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7" d="100"/>
          <a:sy n="87" d="100"/>
        </p:scale>
        <p:origin x="42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lang="fr-CD"/>
              <a:t>target (%)</a:t>
            </a:r>
          </a:p>
        </c:rich>
      </c:tx>
      <c:overlay val="0"/>
    </c:title>
    <c:autoTitleDeleted val="0"/>
    <c:plotArea>
      <c:layout/>
      <c:doughnutChart>
        <c:varyColors val="1"/>
        <c:ser>
          <c:idx val="0"/>
          <c:order val="0"/>
          <c:tx>
            <c:strRef>
              <c:f>Sheet1!$B$1</c:f>
              <c:strCache>
                <c:ptCount val="1"/>
                <c:pt idx="0">
                  <c:v>target</c:v>
                </c:pt>
              </c:strCache>
            </c:strRef>
          </c:tx>
          <c:dLbls>
            <c:spPr>
              <a:noFill/>
              <a:ln>
                <a:noFill/>
              </a:ln>
              <a:effectLst/>
            </c:spPr>
            <c:showLegendKey val="0"/>
            <c:showVal val="0"/>
            <c:showCatName val="0"/>
            <c:showSerName val="0"/>
            <c:showPercent val="1"/>
            <c:showBubbleSize val="0"/>
            <c:showLeaderLines val="1"/>
            <c:extLst>
              <c:ext xmlns:c15="http://schemas.microsoft.com/office/drawing/2012/chart" uri="{CE6537A1-D6FC-4f65-9D91-7224C49458BB}"/>
            </c:extLst>
          </c:dLbls>
          <c:cat>
            <c:strRef>
              <c:f>Sheet1!$A$2:$A$3</c:f>
              <c:strCache>
                <c:ptCount val="2"/>
                <c:pt idx="0">
                  <c:v>0</c:v>
                </c:pt>
                <c:pt idx="1">
                  <c:v>1</c:v>
                </c:pt>
              </c:strCache>
            </c:strRef>
          </c:cat>
          <c:val>
            <c:numRef>
              <c:f>Sheet1!$B$2:$B$3</c:f>
              <c:numCache>
                <c:formatCode>General</c:formatCode>
                <c:ptCount val="2"/>
                <c:pt idx="0">
                  <c:v>54.13</c:v>
                </c:pt>
                <c:pt idx="1">
                  <c:v>45.87</c:v>
                </c:pt>
              </c:numCache>
            </c:numRef>
          </c:val>
          <c:extLst>
            <c:ext xmlns:c16="http://schemas.microsoft.com/office/drawing/2014/chart" uri="{C3380CC4-5D6E-409C-BE32-E72D297353CC}">
              <c16:uniqueId val="{00000000-AA20-4B0E-A40C-C884E29FE76C}"/>
            </c:ext>
          </c:extLst>
        </c:ser>
        <c:dLbls>
          <c:showLegendKey val="0"/>
          <c:showVal val="0"/>
          <c:showCatName val="0"/>
          <c:showSerName val="0"/>
          <c:showPercent val="1"/>
          <c:showBubbleSize val="0"/>
          <c:showLeaderLines val="1"/>
        </c:dLbls>
        <c:firstSliceAng val="0"/>
        <c:holeSize val="50"/>
      </c:doughnutChart>
    </c:plotArea>
    <c:legend>
      <c:legendPos val="b"/>
      <c:overlay val="0"/>
    </c:legend>
    <c:plotVisOnly val="1"/>
    <c:dispBlanksAs val="gap"/>
    <c:showDLblsOverMax val="0"/>
  </c:chart>
  <c:txPr>
    <a:bodyPr/>
    <a:lstStyle/>
    <a:p>
      <a:pPr>
        <a:defRPr sz="1800"/>
      </a:pPr>
      <a:endParaRPr lang="fr-F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fr-CD"/>
              <a:t>fbs (%)</a:t>
            </a:r>
          </a:p>
        </c:rich>
      </c:tx>
      <c:overlay val="0"/>
    </c:title>
    <c:autoTitleDeleted val="0"/>
    <c:plotArea>
      <c:layout/>
      <c:barChart>
        <c:barDir val="col"/>
        <c:grouping val="clustered"/>
        <c:varyColors val="1"/>
        <c:ser>
          <c:idx val="0"/>
          <c:order val="0"/>
          <c:tx>
            <c:strRef>
              <c:f>Sheet1!$B$1</c:f>
              <c:strCache>
                <c:ptCount val="1"/>
                <c:pt idx="0">
                  <c:v>fbs</c:v>
                </c:pt>
              </c:strCache>
            </c:strRef>
          </c:tx>
          <c:invertIfNegative val="1"/>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0</c:v>
                </c:pt>
                <c:pt idx="1">
                  <c:v>1</c:v>
                </c:pt>
              </c:strCache>
            </c:strRef>
          </c:cat>
          <c:val>
            <c:numRef>
              <c:f>Sheet1!$B$2:$B$3</c:f>
              <c:numCache>
                <c:formatCode>General</c:formatCode>
                <c:ptCount val="2"/>
                <c:pt idx="0">
                  <c:v>85.15</c:v>
                </c:pt>
                <c:pt idx="1">
                  <c:v>14.85</c:v>
                </c:pt>
              </c:numCache>
            </c:numRef>
          </c:val>
          <c:extLst>
            <c:ext xmlns:c16="http://schemas.microsoft.com/office/drawing/2014/chart" uri="{C3380CC4-5D6E-409C-BE32-E72D297353CC}">
              <c16:uniqueId val="{00000000-3FE5-4ACB-9CF6-AFCCDE2588E2}"/>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max val="100"/>
          <c:min val="0"/>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804672"/>
            <a:ext cx="8686800" cy="292608"/>
          </a:xfrm>
          <a:prstGeom prst="rect">
            <a:avLst/>
          </a:prstGeom>
          <a:noFill/>
        </p:spPr>
        <p:txBody>
          <a:bodyPr wrap="square" lIns="27432" rIns="27432">
            <a:spAutoFit/>
          </a:bodyPr>
          <a:lstStyle/>
          <a:p>
            <a:pPr algn="l">
              <a:defRPr sz="1300" b="1">
                <a:solidFill>
                  <a:srgbClr val="96C6E7"/>
                </a:solidFill>
              </a:defRPr>
            </a:pPr>
            <a:r>
              <a:t>RAPPORT D’INSPECTION ET DE DIAGNOSTIC DES DONNÉES</a:t>
            </a:r>
          </a:p>
        </p:txBody>
      </p:sp>
      <p:sp>
        <p:nvSpPr>
          <p:cNvPr id="4" name="TextBox 3"/>
          <p:cNvSpPr txBox="1"/>
          <p:nvPr/>
        </p:nvSpPr>
        <p:spPr>
          <a:xfrm>
            <a:off x="731520" y="1417320"/>
            <a:ext cx="7955279" cy="868680"/>
          </a:xfrm>
          <a:prstGeom prst="rect">
            <a:avLst/>
          </a:prstGeom>
          <a:noFill/>
        </p:spPr>
        <p:txBody>
          <a:bodyPr wrap="square" lIns="27432" rIns="27432">
            <a:spAutoFit/>
          </a:bodyPr>
          <a:lstStyle/>
          <a:p>
            <a:pPr algn="l">
              <a:defRPr sz="3300" b="1">
                <a:solidFill>
                  <a:srgbClr val="FFFFFF"/>
                </a:solidFill>
              </a:defRPr>
            </a:pPr>
            <a:r>
              <a:t>Heart Disease Cleveland</a:t>
            </a:r>
          </a:p>
        </p:txBody>
      </p:sp>
      <p:sp>
        <p:nvSpPr>
          <p:cNvPr id="5" name="TextBox 4"/>
          <p:cNvSpPr txBox="1"/>
          <p:nvPr/>
        </p:nvSpPr>
        <p:spPr>
          <a:xfrm>
            <a:off x="731520" y="2450592"/>
            <a:ext cx="7315200" cy="594360"/>
          </a:xfrm>
          <a:prstGeom prst="rect">
            <a:avLst/>
          </a:prstGeom>
          <a:noFill/>
        </p:spPr>
        <p:txBody>
          <a:bodyPr wrap="square" lIns="27432" rIns="27432">
            <a:spAutoFit/>
          </a:bodyPr>
          <a:lstStyle/>
          <a:p>
            <a:pPr algn="l">
              <a:defRPr sz="1800" b="1">
                <a:solidFill>
                  <a:srgbClr val="DCE9F3"/>
                </a:solidFill>
              </a:defRPr>
            </a:pPr>
            <a:r>
              <a:t>Une inspection orientée vers quatre questions de décision</a:t>
            </a:r>
          </a:p>
        </p:txBody>
      </p:sp>
      <p:sp>
        <p:nvSpPr>
          <p:cNvPr id="14" name="Rounded Rectangle 13"/>
          <p:cNvSpPr/>
          <p:nvPr/>
        </p:nvSpPr>
        <p:spPr>
          <a:xfrm>
            <a:off x="8366760" y="1097280"/>
            <a:ext cx="2743200" cy="1051560"/>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31352" y="1207007"/>
            <a:ext cx="2414016" cy="164592"/>
          </a:xfrm>
          <a:prstGeom prst="rect">
            <a:avLst/>
          </a:prstGeom>
          <a:noFill/>
        </p:spPr>
        <p:txBody>
          <a:bodyPr wrap="square" lIns="27432" rIns="27432">
            <a:spAutoFit/>
          </a:bodyPr>
          <a:lstStyle/>
          <a:p>
            <a:pPr algn="l">
              <a:defRPr sz="800" b="1">
                <a:solidFill>
                  <a:srgbClr val="64707B"/>
                </a:solidFill>
              </a:defRPr>
            </a:pPr>
            <a:r>
              <a:t>VOLUME</a:t>
            </a:r>
          </a:p>
        </p:txBody>
      </p:sp>
      <p:sp>
        <p:nvSpPr>
          <p:cNvPr id="16" name="TextBox 15"/>
          <p:cNvSpPr txBox="1"/>
          <p:nvPr/>
        </p:nvSpPr>
        <p:spPr>
          <a:xfrm>
            <a:off x="8531352" y="1426464"/>
            <a:ext cx="2414016" cy="347472"/>
          </a:xfrm>
          <a:prstGeom prst="rect">
            <a:avLst/>
          </a:prstGeom>
          <a:noFill/>
        </p:spPr>
        <p:txBody>
          <a:bodyPr wrap="square" lIns="27432" rIns="27432">
            <a:spAutoFit/>
          </a:bodyPr>
          <a:lstStyle/>
          <a:p>
            <a:pPr algn="l">
              <a:defRPr sz="2100" b="1">
                <a:solidFill>
                  <a:srgbClr val="215F9A"/>
                </a:solidFill>
              </a:defRPr>
            </a:pPr>
            <a:r>
              <a:t>303 × 14</a:t>
            </a:r>
          </a:p>
        </p:txBody>
      </p:sp>
      <p:sp>
        <p:nvSpPr>
          <p:cNvPr id="17" name="TextBox 16"/>
          <p:cNvSpPr txBox="1"/>
          <p:nvPr/>
        </p:nvSpPr>
        <p:spPr>
          <a:xfrm>
            <a:off x="8531352" y="1874519"/>
            <a:ext cx="2414016" cy="155448"/>
          </a:xfrm>
          <a:prstGeom prst="rect">
            <a:avLst/>
          </a:prstGeom>
          <a:noFill/>
        </p:spPr>
        <p:txBody>
          <a:bodyPr wrap="square" lIns="27432" rIns="27432">
            <a:spAutoFit/>
          </a:bodyPr>
          <a:lstStyle/>
          <a:p>
            <a:pPr algn="l">
              <a:defRPr sz="780" b="0">
                <a:solidFill>
                  <a:srgbClr val="232C34"/>
                </a:solidFill>
              </a:defRPr>
            </a:pPr>
            <a:r>
              <a:t>observations × variables</a:t>
            </a:r>
          </a:p>
        </p:txBody>
      </p:sp>
      <p:sp>
        <p:nvSpPr>
          <p:cNvPr id="18" name="Rounded Rectangle 17"/>
          <p:cNvSpPr/>
          <p:nvPr/>
        </p:nvSpPr>
        <p:spPr>
          <a:xfrm>
            <a:off x="8366760" y="2395728"/>
            <a:ext cx="2743200" cy="1051560"/>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31352" y="2505456"/>
            <a:ext cx="2414016" cy="164592"/>
          </a:xfrm>
          <a:prstGeom prst="rect">
            <a:avLst/>
          </a:prstGeom>
          <a:noFill/>
        </p:spPr>
        <p:txBody>
          <a:bodyPr wrap="square" lIns="27432" rIns="27432">
            <a:spAutoFit/>
          </a:bodyPr>
          <a:lstStyle/>
          <a:p>
            <a:pPr algn="l">
              <a:defRPr sz="800" b="1">
                <a:solidFill>
                  <a:srgbClr val="64707B"/>
                </a:solidFill>
              </a:defRPr>
            </a:pPr>
            <a:r>
              <a:t>COMPLÉTUDE</a:t>
            </a:r>
          </a:p>
        </p:txBody>
      </p:sp>
      <p:sp>
        <p:nvSpPr>
          <p:cNvPr id="20" name="TextBox 19"/>
          <p:cNvSpPr txBox="1"/>
          <p:nvPr/>
        </p:nvSpPr>
        <p:spPr>
          <a:xfrm>
            <a:off x="8531352" y="2724912"/>
            <a:ext cx="2414016" cy="347472"/>
          </a:xfrm>
          <a:prstGeom prst="rect">
            <a:avLst/>
          </a:prstGeom>
          <a:noFill/>
        </p:spPr>
        <p:txBody>
          <a:bodyPr wrap="square" lIns="27432" rIns="27432">
            <a:spAutoFit/>
          </a:bodyPr>
          <a:lstStyle/>
          <a:p>
            <a:pPr algn="l">
              <a:defRPr sz="2100" b="1">
                <a:solidFill>
                  <a:srgbClr val="2D8953"/>
                </a:solidFill>
              </a:defRPr>
            </a:pPr>
            <a:r>
              <a:t>100 %</a:t>
            </a:r>
          </a:p>
        </p:txBody>
      </p:sp>
      <p:sp>
        <p:nvSpPr>
          <p:cNvPr id="21" name="TextBox 20"/>
          <p:cNvSpPr txBox="1"/>
          <p:nvPr/>
        </p:nvSpPr>
        <p:spPr>
          <a:xfrm>
            <a:off x="8531352" y="3172968"/>
            <a:ext cx="2414016" cy="155448"/>
          </a:xfrm>
          <a:prstGeom prst="rect">
            <a:avLst/>
          </a:prstGeom>
          <a:noFill/>
        </p:spPr>
        <p:txBody>
          <a:bodyPr wrap="square" lIns="27432" rIns="27432">
            <a:spAutoFit/>
          </a:bodyPr>
          <a:lstStyle/>
          <a:p>
            <a:pPr algn="l">
              <a:defRPr sz="780" b="0">
                <a:solidFill>
                  <a:srgbClr val="232C34"/>
                </a:solidFill>
              </a:defRPr>
            </a:pPr>
            <a:r>
              <a:t>0 valeur manquante</a:t>
            </a:r>
          </a:p>
        </p:txBody>
      </p:sp>
      <p:sp>
        <p:nvSpPr>
          <p:cNvPr id="22" name="Rounded Rectangle 21"/>
          <p:cNvSpPr/>
          <p:nvPr/>
        </p:nvSpPr>
        <p:spPr>
          <a:xfrm>
            <a:off x="8366760" y="3694176"/>
            <a:ext cx="2743200" cy="1051560"/>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31352" y="3803904"/>
            <a:ext cx="2414016" cy="164592"/>
          </a:xfrm>
          <a:prstGeom prst="rect">
            <a:avLst/>
          </a:prstGeom>
          <a:noFill/>
        </p:spPr>
        <p:txBody>
          <a:bodyPr wrap="square" lIns="27432" rIns="27432">
            <a:spAutoFit/>
          </a:bodyPr>
          <a:lstStyle/>
          <a:p>
            <a:pPr algn="l">
              <a:defRPr sz="800" b="1">
                <a:solidFill>
                  <a:srgbClr val="64707B"/>
                </a:solidFill>
              </a:defRPr>
            </a:pPr>
            <a:r>
              <a:t>DUPLICATION</a:t>
            </a:r>
          </a:p>
        </p:txBody>
      </p:sp>
      <p:sp>
        <p:nvSpPr>
          <p:cNvPr id="24" name="TextBox 23"/>
          <p:cNvSpPr txBox="1"/>
          <p:nvPr/>
        </p:nvSpPr>
        <p:spPr>
          <a:xfrm>
            <a:off x="8531352" y="4023360"/>
            <a:ext cx="2414016" cy="347472"/>
          </a:xfrm>
          <a:prstGeom prst="rect">
            <a:avLst/>
          </a:prstGeom>
          <a:noFill/>
        </p:spPr>
        <p:txBody>
          <a:bodyPr wrap="square" lIns="27432" rIns="27432">
            <a:spAutoFit/>
          </a:bodyPr>
          <a:lstStyle/>
          <a:p>
            <a:pPr algn="l">
              <a:defRPr sz="2100" b="1">
                <a:solidFill>
                  <a:srgbClr val="14807C"/>
                </a:solidFill>
              </a:defRPr>
            </a:pPr>
            <a:r>
              <a:t>0</a:t>
            </a:r>
          </a:p>
        </p:txBody>
      </p:sp>
      <p:sp>
        <p:nvSpPr>
          <p:cNvPr id="25" name="TextBox 24"/>
          <p:cNvSpPr txBox="1"/>
          <p:nvPr/>
        </p:nvSpPr>
        <p:spPr>
          <a:xfrm>
            <a:off x="8531352" y="4471416"/>
            <a:ext cx="2414016" cy="155448"/>
          </a:xfrm>
          <a:prstGeom prst="rect">
            <a:avLst/>
          </a:prstGeom>
          <a:noFill/>
        </p:spPr>
        <p:txBody>
          <a:bodyPr wrap="square" lIns="27432" rIns="27432">
            <a:spAutoFit/>
          </a:bodyPr>
          <a:lstStyle/>
          <a:p>
            <a:pPr algn="l">
              <a:defRPr sz="780" b="0">
                <a:solidFill>
                  <a:srgbClr val="232C34"/>
                </a:solidFill>
              </a:defRPr>
            </a:pPr>
            <a:r>
              <a:t>doublon complet</a:t>
            </a:r>
          </a:p>
        </p:txBody>
      </p:sp>
      <p:sp>
        <p:nvSpPr>
          <p:cNvPr id="26" name="TextBox 25"/>
          <p:cNvSpPr txBox="1"/>
          <p:nvPr/>
        </p:nvSpPr>
        <p:spPr>
          <a:xfrm>
            <a:off x="731520" y="4096512"/>
            <a:ext cx="5029200" cy="274320"/>
          </a:xfrm>
          <a:prstGeom prst="rect">
            <a:avLst/>
          </a:prstGeom>
          <a:noFill/>
        </p:spPr>
        <p:txBody>
          <a:bodyPr wrap="square" lIns="27432" rIns="27432">
            <a:spAutoFit/>
          </a:bodyPr>
          <a:lstStyle/>
          <a:p>
            <a:pPr algn="l">
              <a:defRPr sz="1400" b="1">
                <a:solidFill>
                  <a:srgbClr val="FFFFFF"/>
                </a:solidFill>
              </a:defRPr>
            </a:pPr>
            <a:r>
              <a:rPr dirty="0"/>
              <a:t>Joseph MUSENGA</a:t>
            </a:r>
          </a:p>
        </p:txBody>
      </p:sp>
      <p:sp>
        <p:nvSpPr>
          <p:cNvPr id="27" name="TextBox 26"/>
          <p:cNvSpPr txBox="1"/>
          <p:nvPr/>
        </p:nvSpPr>
        <p:spPr>
          <a:xfrm>
            <a:off x="731520" y="4572001"/>
            <a:ext cx="5943600" cy="201168"/>
          </a:xfrm>
          <a:prstGeom prst="rect">
            <a:avLst/>
          </a:prstGeom>
          <a:noFill/>
        </p:spPr>
        <p:txBody>
          <a:bodyPr wrap="square" lIns="27432" rIns="27432">
            <a:spAutoFit/>
          </a:bodyPr>
          <a:lstStyle/>
          <a:p>
            <a:pPr algn="l">
              <a:defRPr sz="950" b="0">
                <a:solidFill>
                  <a:srgbClr val="B0C9E0"/>
                </a:solidFill>
              </a:defRPr>
            </a:pPr>
            <a:r>
              <a:rPr dirty="0"/>
              <a:t>Master 1 Intelligence </a:t>
            </a:r>
            <a:r>
              <a:rPr dirty="0" err="1"/>
              <a:t>Artificielle</a:t>
            </a:r>
            <a:r>
              <a:rPr dirty="0"/>
              <a:t> • Data Preprocessing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0B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10607040" cy="329184"/>
          </a:xfrm>
          <a:prstGeom prst="rect">
            <a:avLst/>
          </a:prstGeom>
          <a:noFill/>
        </p:spPr>
        <p:txBody>
          <a:bodyPr wrap="square" lIns="27432" rIns="27432">
            <a:spAutoFit/>
          </a:bodyPr>
          <a:lstStyle/>
          <a:p>
            <a:pPr algn="l">
              <a:defRPr sz="2100" b="1">
                <a:solidFill>
                  <a:srgbClr val="FFFFFF"/>
                </a:solidFill>
              </a:defRPr>
            </a:pPr>
            <a:r>
              <a:t>Synthèse exécutive du diagnostic</a:t>
            </a:r>
          </a:p>
        </p:txBody>
      </p:sp>
      <p:sp>
        <p:nvSpPr>
          <p:cNvPr id="5" name="TextBox 4"/>
          <p:cNvSpPr txBox="1"/>
          <p:nvPr/>
        </p:nvSpPr>
        <p:spPr>
          <a:xfrm>
            <a:off x="11109960" y="164592"/>
            <a:ext cx="457200" cy="182880"/>
          </a:xfrm>
          <a:prstGeom prst="rect">
            <a:avLst/>
          </a:prstGeom>
          <a:noFill/>
        </p:spPr>
        <p:txBody>
          <a:bodyPr wrap="square" lIns="27432" rIns="27432">
            <a:spAutoFit/>
          </a:bodyPr>
          <a:lstStyle/>
          <a:p>
            <a:pPr algn="r">
              <a:defRPr sz="900" b="1">
                <a:solidFill>
                  <a:srgbClr val="A3C1DB"/>
                </a:solidFill>
              </a:defRPr>
            </a:pPr>
            <a:r>
              <a:t>02</a:t>
            </a:r>
          </a:p>
        </p:txBody>
      </p:sp>
      <p:sp>
        <p:nvSpPr>
          <p:cNvPr id="6" name="TextBox 5"/>
          <p:cNvSpPr txBox="1"/>
          <p:nvPr/>
        </p:nvSpPr>
        <p:spPr>
          <a:xfrm>
            <a:off x="530352" y="713232"/>
            <a:ext cx="10789920" cy="201168"/>
          </a:xfrm>
          <a:prstGeom prst="rect">
            <a:avLst/>
          </a:prstGeom>
          <a:noFill/>
        </p:spPr>
        <p:txBody>
          <a:bodyPr wrap="square" lIns="27432" rIns="27432">
            <a:spAutoFit/>
          </a:bodyPr>
          <a:lstStyle/>
          <a:p>
            <a:pPr algn="l">
              <a:defRPr sz="850" b="1">
                <a:solidFill>
                  <a:srgbClr val="215F9A"/>
                </a:solidFill>
              </a:defRPr>
            </a:pPr>
            <a:r>
              <a:t>Le rapport répond directement aux quatre questions d’inspection</a:t>
            </a:r>
          </a:p>
        </p:txBody>
      </p:sp>
      <p:sp>
        <p:nvSpPr>
          <p:cNvPr id="7" name="Rounded Rectangle 6"/>
          <p:cNvSpPr/>
          <p:nvPr/>
        </p:nvSpPr>
        <p:spPr>
          <a:xfrm>
            <a:off x="594360" y="1143000"/>
            <a:ext cx="2651760" cy="1874519"/>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1143000"/>
            <a:ext cx="64008" cy="1874519"/>
          </a:xfrm>
          <a:prstGeom prst="rect">
            <a:avLst/>
          </a:prstGeom>
          <a:solidFill>
            <a:srgbClr val="21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1289304"/>
            <a:ext cx="2267712" cy="256032"/>
          </a:xfrm>
          <a:prstGeom prst="rect">
            <a:avLst/>
          </a:prstGeom>
          <a:noFill/>
        </p:spPr>
        <p:txBody>
          <a:bodyPr wrap="square" lIns="27432" rIns="27432">
            <a:spAutoFit/>
          </a:bodyPr>
          <a:lstStyle/>
          <a:p>
            <a:pPr algn="l">
              <a:defRPr sz="1100" b="1">
                <a:solidFill>
                  <a:srgbClr val="215F9A"/>
                </a:solidFill>
              </a:defRPr>
            </a:pPr>
            <a:r>
              <a:t>1. DONNÉES DISPONIBLES</a:t>
            </a:r>
          </a:p>
        </p:txBody>
      </p:sp>
      <p:sp>
        <p:nvSpPr>
          <p:cNvPr id="10" name="TextBox 9"/>
          <p:cNvSpPr txBox="1"/>
          <p:nvPr/>
        </p:nvSpPr>
        <p:spPr>
          <a:xfrm>
            <a:off x="795528" y="1655064"/>
            <a:ext cx="2267712" cy="1252727"/>
          </a:xfrm>
          <a:prstGeom prst="rect">
            <a:avLst/>
          </a:prstGeom>
          <a:noFill/>
        </p:spPr>
        <p:txBody>
          <a:bodyPr wrap="square" lIns="27432" rIns="27432">
            <a:spAutoFit/>
          </a:bodyPr>
          <a:lstStyle/>
          <a:p>
            <a:pPr algn="l">
              <a:defRPr sz="1050" b="0">
                <a:solidFill>
                  <a:srgbClr val="232C34"/>
                </a:solidFill>
              </a:defRPr>
            </a:pPr>
            <a:r>
              <a:t>303 observations et 14 variables : données démographiques, cliniques et diagnostiques. 13 colonnes int64 et 1 float64.</a:t>
            </a:r>
          </a:p>
        </p:txBody>
      </p:sp>
      <p:sp>
        <p:nvSpPr>
          <p:cNvPr id="11" name="Rounded Rectangle 10"/>
          <p:cNvSpPr/>
          <p:nvPr/>
        </p:nvSpPr>
        <p:spPr>
          <a:xfrm>
            <a:off x="3429000" y="1143000"/>
            <a:ext cx="2651760" cy="1874519"/>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29000" y="1143000"/>
            <a:ext cx="64008" cy="1874519"/>
          </a:xfrm>
          <a:prstGeom prst="rect">
            <a:avLst/>
          </a:prstGeom>
          <a:solidFill>
            <a:srgbClr val="2D89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30168" y="1289304"/>
            <a:ext cx="2267712" cy="256032"/>
          </a:xfrm>
          <a:prstGeom prst="rect">
            <a:avLst/>
          </a:prstGeom>
          <a:noFill/>
        </p:spPr>
        <p:txBody>
          <a:bodyPr wrap="square" lIns="27432" rIns="27432">
            <a:spAutoFit/>
          </a:bodyPr>
          <a:lstStyle/>
          <a:p>
            <a:pPr algn="l">
              <a:defRPr sz="1100" b="1">
                <a:solidFill>
                  <a:srgbClr val="2D8953"/>
                </a:solidFill>
              </a:defRPr>
            </a:pPr>
            <a:r>
              <a:t>2. ÉTAT DES DONNÉES</a:t>
            </a:r>
          </a:p>
        </p:txBody>
      </p:sp>
      <p:sp>
        <p:nvSpPr>
          <p:cNvPr id="14" name="TextBox 13"/>
          <p:cNvSpPr txBox="1"/>
          <p:nvPr/>
        </p:nvSpPr>
        <p:spPr>
          <a:xfrm>
            <a:off x="3630168" y="1655064"/>
            <a:ext cx="2267712" cy="1252727"/>
          </a:xfrm>
          <a:prstGeom prst="rect">
            <a:avLst/>
          </a:prstGeom>
          <a:noFill/>
        </p:spPr>
        <p:txBody>
          <a:bodyPr wrap="square" lIns="27432" rIns="27432">
            <a:spAutoFit/>
          </a:bodyPr>
          <a:lstStyle/>
          <a:p>
            <a:pPr algn="l">
              <a:defRPr sz="1050" b="0">
                <a:solidFill>
                  <a:srgbClr val="232C34"/>
                </a:solidFill>
              </a:defRPr>
            </a:pPr>
            <a:r>
              <a:t>Aucune valeur manquante, aucun doublon complet. Plusieurs catégories sont toutefois encodées numériquement.</a:t>
            </a:r>
          </a:p>
        </p:txBody>
      </p:sp>
      <p:sp>
        <p:nvSpPr>
          <p:cNvPr id="15" name="Rounded Rectangle 14"/>
          <p:cNvSpPr/>
          <p:nvPr/>
        </p:nvSpPr>
        <p:spPr>
          <a:xfrm>
            <a:off x="6263640" y="1143000"/>
            <a:ext cx="2651760" cy="1874519"/>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63640" y="1143000"/>
            <a:ext cx="64008" cy="1874519"/>
          </a:xfrm>
          <a:prstGeom prst="rect">
            <a:avLst/>
          </a:prstGeom>
          <a:solidFill>
            <a:srgbClr val="DC8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64807" y="1289304"/>
            <a:ext cx="2267712" cy="256032"/>
          </a:xfrm>
          <a:prstGeom prst="rect">
            <a:avLst/>
          </a:prstGeom>
          <a:noFill/>
        </p:spPr>
        <p:txBody>
          <a:bodyPr wrap="square" lIns="27432" rIns="27432">
            <a:spAutoFit/>
          </a:bodyPr>
          <a:lstStyle/>
          <a:p>
            <a:pPr algn="l">
              <a:defRPr sz="1100" b="1">
                <a:solidFill>
                  <a:srgbClr val="DC892A"/>
                </a:solidFill>
              </a:defRPr>
            </a:pPr>
            <a:r>
              <a:t>3. PROBLÉMATIQUES</a:t>
            </a:r>
          </a:p>
        </p:txBody>
      </p:sp>
      <p:sp>
        <p:nvSpPr>
          <p:cNvPr id="18" name="TextBox 17"/>
          <p:cNvSpPr txBox="1"/>
          <p:nvPr/>
        </p:nvSpPr>
        <p:spPr>
          <a:xfrm>
            <a:off x="6464807" y="1655064"/>
            <a:ext cx="2267712" cy="1252727"/>
          </a:xfrm>
          <a:prstGeom prst="rect">
            <a:avLst/>
          </a:prstGeom>
          <a:noFill/>
        </p:spPr>
        <p:txBody>
          <a:bodyPr wrap="square" lIns="27432" rIns="27432">
            <a:spAutoFit/>
          </a:bodyPr>
          <a:lstStyle/>
          <a:p>
            <a:pPr algn="l">
              <a:defRPr sz="1050" b="0">
                <a:solidFill>
                  <a:srgbClr val="232C34"/>
                </a:solidFill>
              </a:defRPr>
            </a:pPr>
            <a:r>
              <a:t>Valeurs extrêmes potentielles ; codages catégoriels à documenter ; distributions parfois déséquilibrées.</a:t>
            </a:r>
          </a:p>
        </p:txBody>
      </p:sp>
      <p:sp>
        <p:nvSpPr>
          <p:cNvPr id="19" name="Rounded Rectangle 18"/>
          <p:cNvSpPr/>
          <p:nvPr/>
        </p:nvSpPr>
        <p:spPr>
          <a:xfrm>
            <a:off x="9098280" y="1143000"/>
            <a:ext cx="2514600" cy="1874519"/>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098280" y="1143000"/>
            <a:ext cx="64008" cy="1874519"/>
          </a:xfrm>
          <a:prstGeom prst="rect">
            <a:avLst/>
          </a:prstGeom>
          <a:solidFill>
            <a:srgbClr val="14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99448" y="1289304"/>
            <a:ext cx="2130552" cy="256032"/>
          </a:xfrm>
          <a:prstGeom prst="rect">
            <a:avLst/>
          </a:prstGeom>
          <a:noFill/>
        </p:spPr>
        <p:txBody>
          <a:bodyPr wrap="square" lIns="27432" rIns="27432">
            <a:spAutoFit/>
          </a:bodyPr>
          <a:lstStyle/>
          <a:p>
            <a:pPr algn="l">
              <a:defRPr sz="1100" b="1">
                <a:solidFill>
                  <a:srgbClr val="14807C"/>
                </a:solidFill>
              </a:defRPr>
            </a:pPr>
            <a:r>
              <a:t>4. RECOMMANDATIONS</a:t>
            </a:r>
          </a:p>
        </p:txBody>
      </p:sp>
      <p:sp>
        <p:nvSpPr>
          <p:cNvPr id="22" name="TextBox 21"/>
          <p:cNvSpPr txBox="1"/>
          <p:nvPr/>
        </p:nvSpPr>
        <p:spPr>
          <a:xfrm>
            <a:off x="9299448" y="1655064"/>
            <a:ext cx="2130552" cy="1252727"/>
          </a:xfrm>
          <a:prstGeom prst="rect">
            <a:avLst/>
          </a:prstGeom>
          <a:noFill/>
        </p:spPr>
        <p:txBody>
          <a:bodyPr wrap="square" lIns="27432" rIns="27432">
            <a:spAutoFit/>
          </a:bodyPr>
          <a:lstStyle/>
          <a:p>
            <a:pPr algn="l">
              <a:defRPr sz="1019" b="0">
                <a:solidFill>
                  <a:srgbClr val="232C34"/>
                </a:solidFill>
              </a:defRPr>
            </a:pPr>
            <a:r>
              <a:t>Ne rien supprimer automatiquement. Vérifier, documenter et traiter uniquement après analyses complémentaires.</a:t>
            </a:r>
          </a:p>
        </p:txBody>
      </p:sp>
      <p:sp>
        <p:nvSpPr>
          <p:cNvPr id="23" name="TextBox 22"/>
          <p:cNvSpPr txBox="1"/>
          <p:nvPr/>
        </p:nvSpPr>
        <p:spPr>
          <a:xfrm>
            <a:off x="685800" y="3493008"/>
            <a:ext cx="10789920" cy="320040"/>
          </a:xfrm>
          <a:prstGeom prst="rect">
            <a:avLst/>
          </a:prstGeom>
          <a:noFill/>
        </p:spPr>
        <p:txBody>
          <a:bodyPr wrap="square" lIns="27432" rIns="27432">
            <a:spAutoFit/>
          </a:bodyPr>
          <a:lstStyle/>
          <a:p>
            <a:pPr algn="l">
              <a:defRPr sz="1800" b="1">
                <a:solidFill>
                  <a:srgbClr val="0B1F34"/>
                </a:solidFill>
              </a:defRPr>
            </a:pPr>
            <a:r>
              <a:t>Diagnostic global</a:t>
            </a:r>
          </a:p>
        </p:txBody>
      </p:sp>
      <p:sp>
        <p:nvSpPr>
          <p:cNvPr id="24" name="TextBox 23"/>
          <p:cNvSpPr txBox="1"/>
          <p:nvPr/>
        </p:nvSpPr>
        <p:spPr>
          <a:xfrm>
            <a:off x="685800" y="3977639"/>
            <a:ext cx="10789920" cy="822960"/>
          </a:xfrm>
          <a:prstGeom prst="rect">
            <a:avLst/>
          </a:prstGeom>
          <a:noFill/>
        </p:spPr>
        <p:txBody>
          <a:bodyPr wrap="square" lIns="27432" rIns="27432">
            <a:spAutoFit/>
          </a:bodyPr>
          <a:lstStyle/>
          <a:p>
            <a:pPr algn="l">
              <a:defRPr sz="1700" b="0">
                <a:solidFill>
                  <a:srgbClr val="232C34"/>
                </a:solidFill>
              </a:defRPr>
            </a:pPr>
            <a:r>
              <a:t>La base présente une bonne qualité structurelle initiale. Les enjeux identifiés relèvent surtout de la compréhension des codages, de la plausibilité de certaines valeurs extrêmes et de la préparation des futures analyses — pas de la complétude ou de la duplication.</a:t>
            </a:r>
          </a:p>
        </p:txBody>
      </p:sp>
      <p:sp>
        <p:nvSpPr>
          <p:cNvPr id="25" name="TextBox 24"/>
          <p:cNvSpPr txBox="1"/>
          <p:nvPr/>
        </p:nvSpPr>
        <p:spPr>
          <a:xfrm>
            <a:off x="685800" y="5166360"/>
            <a:ext cx="10789920" cy="475488"/>
          </a:xfrm>
          <a:prstGeom prst="rect">
            <a:avLst/>
          </a:prstGeom>
          <a:noFill/>
        </p:spPr>
        <p:txBody>
          <a:bodyPr wrap="square" lIns="27432" rIns="27432">
            <a:spAutoFit/>
          </a:bodyPr>
          <a:lstStyle/>
          <a:p>
            <a:pPr algn="ctr">
              <a:defRPr sz="1250" b="1">
                <a:solidFill>
                  <a:srgbClr val="215F9A"/>
                </a:solidFill>
              </a:defRPr>
            </a:pPr>
            <a:r>
              <a:rPr dirty="0"/>
              <a:t>Principe </a:t>
            </a:r>
            <a:r>
              <a:rPr dirty="0" err="1"/>
              <a:t>retenu</a:t>
            </a:r>
            <a:r>
              <a:rPr dirty="0"/>
              <a:t> : un constat </a:t>
            </a:r>
            <a:r>
              <a:rPr dirty="0" err="1"/>
              <a:t>n’est</a:t>
            </a:r>
            <a:r>
              <a:rPr dirty="0"/>
              <a:t> </a:t>
            </a:r>
            <a:r>
              <a:rPr dirty="0" err="1"/>
              <a:t>qualifié</a:t>
            </a:r>
            <a:r>
              <a:rPr dirty="0"/>
              <a:t> de « </a:t>
            </a:r>
            <a:r>
              <a:rPr dirty="0" err="1"/>
              <a:t>problème</a:t>
            </a:r>
            <a:r>
              <a:rPr dirty="0"/>
              <a:t> » </a:t>
            </a:r>
            <a:r>
              <a:rPr dirty="0" err="1"/>
              <a:t>que</a:t>
            </a:r>
            <a:r>
              <a:rPr dirty="0"/>
              <a:t> </a:t>
            </a:r>
            <a:r>
              <a:rPr dirty="0" err="1"/>
              <a:t>s’il</a:t>
            </a:r>
            <a:r>
              <a:rPr dirty="0"/>
              <a:t> est soutenu par </a:t>
            </a:r>
            <a:r>
              <a:rPr dirty="0" err="1"/>
              <a:t>l’inspection</a:t>
            </a:r>
            <a:r>
              <a:rPr dirty="0"/>
              <a:t>.</a:t>
            </a:r>
          </a:p>
        </p:txBody>
      </p:sp>
      <p:sp>
        <p:nvSpPr>
          <p:cNvPr id="26" name="TextBox 25"/>
          <p:cNvSpPr txBox="1"/>
          <p:nvPr/>
        </p:nvSpPr>
        <p:spPr>
          <a:xfrm>
            <a:off x="566928" y="6601968"/>
            <a:ext cx="7772400" cy="128016"/>
          </a:xfrm>
          <a:prstGeom prst="rect">
            <a:avLst/>
          </a:prstGeom>
          <a:noFill/>
        </p:spPr>
        <p:txBody>
          <a:bodyPr wrap="square" lIns="27432" rIns="27432">
            <a:spAutoFit/>
          </a:bodyPr>
          <a:lstStyle/>
          <a:p>
            <a:pPr algn="l">
              <a:defRPr sz="680" b="0">
                <a:solidFill>
                  <a:srgbClr val="64707B"/>
                </a:solidFill>
              </a:defRPr>
            </a:pPr>
            <a:r>
              <a:t>Joseph MUSENGA • Master 1 A.I • Dakar Institute of Technology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0B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10607040" cy="329184"/>
          </a:xfrm>
          <a:prstGeom prst="rect">
            <a:avLst/>
          </a:prstGeom>
          <a:noFill/>
        </p:spPr>
        <p:txBody>
          <a:bodyPr wrap="square" lIns="27432" rIns="27432">
            <a:spAutoFit/>
          </a:bodyPr>
          <a:lstStyle/>
          <a:p>
            <a:pPr algn="l">
              <a:defRPr sz="2100" b="1">
                <a:solidFill>
                  <a:srgbClr val="FFFFFF"/>
                </a:solidFill>
              </a:defRPr>
            </a:pPr>
            <a:r>
              <a:t>Q1 — Quelles sont les données dont nous disposons ?</a:t>
            </a:r>
          </a:p>
        </p:txBody>
      </p:sp>
      <p:sp>
        <p:nvSpPr>
          <p:cNvPr id="5" name="TextBox 4"/>
          <p:cNvSpPr txBox="1"/>
          <p:nvPr/>
        </p:nvSpPr>
        <p:spPr>
          <a:xfrm>
            <a:off x="11109960" y="164592"/>
            <a:ext cx="457200" cy="182880"/>
          </a:xfrm>
          <a:prstGeom prst="rect">
            <a:avLst/>
          </a:prstGeom>
          <a:noFill/>
        </p:spPr>
        <p:txBody>
          <a:bodyPr wrap="square" lIns="27432" rIns="27432">
            <a:spAutoFit/>
          </a:bodyPr>
          <a:lstStyle/>
          <a:p>
            <a:pPr algn="r">
              <a:defRPr sz="900" b="1">
                <a:solidFill>
                  <a:srgbClr val="A3C1DB"/>
                </a:solidFill>
              </a:defRPr>
            </a:pPr>
            <a:r>
              <a:t>03</a:t>
            </a:r>
          </a:p>
        </p:txBody>
      </p:sp>
      <p:sp>
        <p:nvSpPr>
          <p:cNvPr id="6" name="TextBox 5"/>
          <p:cNvSpPr txBox="1"/>
          <p:nvPr/>
        </p:nvSpPr>
        <p:spPr>
          <a:xfrm>
            <a:off x="530352" y="713232"/>
            <a:ext cx="10789920" cy="201168"/>
          </a:xfrm>
          <a:prstGeom prst="rect">
            <a:avLst/>
          </a:prstGeom>
          <a:noFill/>
        </p:spPr>
        <p:txBody>
          <a:bodyPr wrap="square" lIns="27432" rIns="27432">
            <a:spAutoFit/>
          </a:bodyPr>
          <a:lstStyle/>
          <a:p>
            <a:pPr algn="l">
              <a:defRPr sz="850" b="1">
                <a:solidFill>
                  <a:srgbClr val="215F9A"/>
                </a:solidFill>
              </a:defRPr>
            </a:pPr>
            <a:r>
              <a:t>Inventaire, structure et finalité</a:t>
            </a:r>
          </a:p>
        </p:txBody>
      </p:sp>
      <p:sp>
        <p:nvSpPr>
          <p:cNvPr id="7" name="Rounded Rectangle 6"/>
          <p:cNvSpPr/>
          <p:nvPr/>
        </p:nvSpPr>
        <p:spPr>
          <a:xfrm>
            <a:off x="594360" y="1078992"/>
            <a:ext cx="2514600" cy="1051560"/>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1188719"/>
            <a:ext cx="2185416" cy="164592"/>
          </a:xfrm>
          <a:prstGeom prst="rect">
            <a:avLst/>
          </a:prstGeom>
          <a:noFill/>
        </p:spPr>
        <p:txBody>
          <a:bodyPr wrap="square" lIns="27432" rIns="27432">
            <a:spAutoFit/>
          </a:bodyPr>
          <a:lstStyle/>
          <a:p>
            <a:pPr algn="l">
              <a:defRPr sz="800" b="1">
                <a:solidFill>
                  <a:srgbClr val="64707B"/>
                </a:solidFill>
              </a:defRPr>
            </a:pPr>
            <a:r>
              <a:t>OBSERVATIONS</a:t>
            </a:r>
          </a:p>
        </p:txBody>
      </p:sp>
      <p:sp>
        <p:nvSpPr>
          <p:cNvPr id="9" name="TextBox 8"/>
          <p:cNvSpPr txBox="1"/>
          <p:nvPr/>
        </p:nvSpPr>
        <p:spPr>
          <a:xfrm>
            <a:off x="758952" y="1408176"/>
            <a:ext cx="2185416" cy="347472"/>
          </a:xfrm>
          <a:prstGeom prst="rect">
            <a:avLst/>
          </a:prstGeom>
          <a:noFill/>
        </p:spPr>
        <p:txBody>
          <a:bodyPr wrap="square" lIns="27432" rIns="27432">
            <a:spAutoFit/>
          </a:bodyPr>
          <a:lstStyle/>
          <a:p>
            <a:pPr algn="l">
              <a:defRPr sz="2100" b="1">
                <a:solidFill>
                  <a:srgbClr val="215F9A"/>
                </a:solidFill>
              </a:defRPr>
            </a:pPr>
            <a:r>
              <a:t>303</a:t>
            </a:r>
          </a:p>
        </p:txBody>
      </p:sp>
      <p:sp>
        <p:nvSpPr>
          <p:cNvPr id="10" name="TextBox 9"/>
          <p:cNvSpPr txBox="1"/>
          <p:nvPr/>
        </p:nvSpPr>
        <p:spPr>
          <a:xfrm>
            <a:off x="758952" y="1856231"/>
            <a:ext cx="2185416" cy="155448"/>
          </a:xfrm>
          <a:prstGeom prst="rect">
            <a:avLst/>
          </a:prstGeom>
          <a:noFill/>
        </p:spPr>
        <p:txBody>
          <a:bodyPr wrap="square" lIns="27432" rIns="27432">
            <a:spAutoFit/>
          </a:bodyPr>
          <a:lstStyle/>
          <a:p>
            <a:pPr algn="l">
              <a:defRPr sz="780" b="0">
                <a:solidFill>
                  <a:srgbClr val="232C34"/>
                </a:solidFill>
              </a:defRPr>
            </a:pPr>
            <a:r>
              <a:t>enregistrements</a:t>
            </a:r>
          </a:p>
        </p:txBody>
      </p:sp>
      <p:sp>
        <p:nvSpPr>
          <p:cNvPr id="11" name="Rounded Rectangle 10"/>
          <p:cNvSpPr/>
          <p:nvPr/>
        </p:nvSpPr>
        <p:spPr>
          <a:xfrm>
            <a:off x="3273552" y="1078992"/>
            <a:ext cx="2514600" cy="1051560"/>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38144" y="1188719"/>
            <a:ext cx="2185416" cy="164592"/>
          </a:xfrm>
          <a:prstGeom prst="rect">
            <a:avLst/>
          </a:prstGeom>
          <a:noFill/>
        </p:spPr>
        <p:txBody>
          <a:bodyPr wrap="square" lIns="27432" rIns="27432">
            <a:spAutoFit/>
          </a:bodyPr>
          <a:lstStyle/>
          <a:p>
            <a:pPr algn="l">
              <a:defRPr sz="800" b="1">
                <a:solidFill>
                  <a:srgbClr val="64707B"/>
                </a:solidFill>
              </a:defRPr>
            </a:pPr>
            <a:r>
              <a:t>VARIABLES</a:t>
            </a:r>
          </a:p>
        </p:txBody>
      </p:sp>
      <p:sp>
        <p:nvSpPr>
          <p:cNvPr id="13" name="TextBox 12"/>
          <p:cNvSpPr txBox="1"/>
          <p:nvPr/>
        </p:nvSpPr>
        <p:spPr>
          <a:xfrm>
            <a:off x="3438144" y="1408176"/>
            <a:ext cx="2185416" cy="347472"/>
          </a:xfrm>
          <a:prstGeom prst="rect">
            <a:avLst/>
          </a:prstGeom>
          <a:noFill/>
        </p:spPr>
        <p:txBody>
          <a:bodyPr wrap="square" lIns="27432" rIns="27432">
            <a:spAutoFit/>
          </a:bodyPr>
          <a:lstStyle/>
          <a:p>
            <a:pPr algn="l">
              <a:defRPr sz="2100" b="1">
                <a:solidFill>
                  <a:srgbClr val="14807C"/>
                </a:solidFill>
              </a:defRPr>
            </a:pPr>
            <a:r>
              <a:t>14</a:t>
            </a:r>
          </a:p>
        </p:txBody>
      </p:sp>
      <p:sp>
        <p:nvSpPr>
          <p:cNvPr id="14" name="TextBox 13"/>
          <p:cNvSpPr txBox="1"/>
          <p:nvPr/>
        </p:nvSpPr>
        <p:spPr>
          <a:xfrm>
            <a:off x="3438144" y="1856231"/>
            <a:ext cx="2185416" cy="155448"/>
          </a:xfrm>
          <a:prstGeom prst="rect">
            <a:avLst/>
          </a:prstGeom>
          <a:noFill/>
        </p:spPr>
        <p:txBody>
          <a:bodyPr wrap="square" lIns="27432" rIns="27432">
            <a:spAutoFit/>
          </a:bodyPr>
          <a:lstStyle/>
          <a:p>
            <a:pPr algn="l">
              <a:defRPr sz="780" b="0">
                <a:solidFill>
                  <a:srgbClr val="232C34"/>
                </a:solidFill>
              </a:defRPr>
            </a:pPr>
            <a:r>
              <a:t>13 explicatives + target</a:t>
            </a:r>
          </a:p>
        </p:txBody>
      </p:sp>
      <p:sp>
        <p:nvSpPr>
          <p:cNvPr id="15" name="Rounded Rectangle 14"/>
          <p:cNvSpPr/>
          <p:nvPr/>
        </p:nvSpPr>
        <p:spPr>
          <a:xfrm>
            <a:off x="5952744" y="1078992"/>
            <a:ext cx="2514600" cy="1051560"/>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17336" y="1188719"/>
            <a:ext cx="2185416" cy="164592"/>
          </a:xfrm>
          <a:prstGeom prst="rect">
            <a:avLst/>
          </a:prstGeom>
          <a:noFill/>
        </p:spPr>
        <p:txBody>
          <a:bodyPr wrap="square" lIns="27432" rIns="27432">
            <a:spAutoFit/>
          </a:bodyPr>
          <a:lstStyle/>
          <a:p>
            <a:pPr algn="l">
              <a:defRPr sz="800" b="1">
                <a:solidFill>
                  <a:srgbClr val="64707B"/>
                </a:solidFill>
              </a:defRPr>
            </a:pPr>
            <a:r>
              <a:t>TYPES PANDAS</a:t>
            </a:r>
          </a:p>
        </p:txBody>
      </p:sp>
      <p:sp>
        <p:nvSpPr>
          <p:cNvPr id="17" name="TextBox 16"/>
          <p:cNvSpPr txBox="1"/>
          <p:nvPr/>
        </p:nvSpPr>
        <p:spPr>
          <a:xfrm>
            <a:off x="6117336" y="1408176"/>
            <a:ext cx="2185416" cy="347472"/>
          </a:xfrm>
          <a:prstGeom prst="rect">
            <a:avLst/>
          </a:prstGeom>
          <a:noFill/>
        </p:spPr>
        <p:txBody>
          <a:bodyPr wrap="square" lIns="27432" rIns="27432">
            <a:spAutoFit/>
          </a:bodyPr>
          <a:lstStyle/>
          <a:p>
            <a:pPr algn="l">
              <a:defRPr sz="2100" b="1">
                <a:solidFill>
                  <a:srgbClr val="DC892A"/>
                </a:solidFill>
              </a:defRPr>
            </a:pPr>
            <a:r>
              <a:t>13 + 1</a:t>
            </a:r>
          </a:p>
        </p:txBody>
      </p:sp>
      <p:sp>
        <p:nvSpPr>
          <p:cNvPr id="18" name="TextBox 17"/>
          <p:cNvSpPr txBox="1"/>
          <p:nvPr/>
        </p:nvSpPr>
        <p:spPr>
          <a:xfrm>
            <a:off x="6117336" y="1856231"/>
            <a:ext cx="2185416" cy="155448"/>
          </a:xfrm>
          <a:prstGeom prst="rect">
            <a:avLst/>
          </a:prstGeom>
          <a:noFill/>
        </p:spPr>
        <p:txBody>
          <a:bodyPr wrap="square" lIns="27432" rIns="27432">
            <a:spAutoFit/>
          </a:bodyPr>
          <a:lstStyle/>
          <a:p>
            <a:pPr algn="l">
              <a:defRPr sz="780" b="0">
                <a:solidFill>
                  <a:srgbClr val="232C34"/>
                </a:solidFill>
              </a:defRPr>
            </a:pPr>
            <a:r>
              <a:t>int64 + float64</a:t>
            </a:r>
          </a:p>
        </p:txBody>
      </p:sp>
      <p:sp>
        <p:nvSpPr>
          <p:cNvPr id="19" name="Rounded Rectangle 18"/>
          <p:cNvSpPr/>
          <p:nvPr/>
        </p:nvSpPr>
        <p:spPr>
          <a:xfrm>
            <a:off x="8631936" y="1078992"/>
            <a:ext cx="2514600" cy="1051560"/>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796528" y="1188719"/>
            <a:ext cx="2185416" cy="164592"/>
          </a:xfrm>
          <a:prstGeom prst="rect">
            <a:avLst/>
          </a:prstGeom>
          <a:noFill/>
        </p:spPr>
        <p:txBody>
          <a:bodyPr wrap="square" lIns="27432" rIns="27432">
            <a:spAutoFit/>
          </a:bodyPr>
          <a:lstStyle/>
          <a:p>
            <a:pPr algn="l">
              <a:defRPr sz="800" b="1">
                <a:solidFill>
                  <a:srgbClr val="64707B"/>
                </a:solidFill>
              </a:defRPr>
            </a:pPr>
            <a:r>
              <a:t>CIBLE</a:t>
            </a:r>
          </a:p>
        </p:txBody>
      </p:sp>
      <p:sp>
        <p:nvSpPr>
          <p:cNvPr id="21" name="TextBox 20"/>
          <p:cNvSpPr txBox="1"/>
          <p:nvPr/>
        </p:nvSpPr>
        <p:spPr>
          <a:xfrm>
            <a:off x="8796528" y="1408176"/>
            <a:ext cx="2185416" cy="347472"/>
          </a:xfrm>
          <a:prstGeom prst="rect">
            <a:avLst/>
          </a:prstGeom>
          <a:noFill/>
        </p:spPr>
        <p:txBody>
          <a:bodyPr wrap="square" lIns="27432" rIns="27432">
            <a:spAutoFit/>
          </a:bodyPr>
          <a:lstStyle/>
          <a:p>
            <a:pPr algn="l">
              <a:defRPr sz="2100" b="1">
                <a:solidFill>
                  <a:srgbClr val="0B1F34"/>
                </a:solidFill>
              </a:defRPr>
            </a:pPr>
            <a:r>
              <a:t>target</a:t>
            </a:r>
          </a:p>
        </p:txBody>
      </p:sp>
      <p:sp>
        <p:nvSpPr>
          <p:cNvPr id="22" name="TextBox 21"/>
          <p:cNvSpPr txBox="1"/>
          <p:nvPr/>
        </p:nvSpPr>
        <p:spPr>
          <a:xfrm>
            <a:off x="8796528" y="1856231"/>
            <a:ext cx="2185416" cy="155448"/>
          </a:xfrm>
          <a:prstGeom prst="rect">
            <a:avLst/>
          </a:prstGeom>
          <a:noFill/>
        </p:spPr>
        <p:txBody>
          <a:bodyPr wrap="square" lIns="27432" rIns="27432">
            <a:spAutoFit/>
          </a:bodyPr>
          <a:lstStyle/>
          <a:p>
            <a:pPr algn="l">
              <a:defRPr sz="780" b="0">
                <a:solidFill>
                  <a:srgbClr val="232C34"/>
                </a:solidFill>
              </a:defRPr>
            </a:pPr>
            <a:r>
              <a:t>2 modalités : 0 / 1</a:t>
            </a:r>
          </a:p>
        </p:txBody>
      </p:sp>
      <p:sp>
        <p:nvSpPr>
          <p:cNvPr id="23" name="TextBox 22"/>
          <p:cNvSpPr txBox="1"/>
          <p:nvPr/>
        </p:nvSpPr>
        <p:spPr>
          <a:xfrm>
            <a:off x="658368" y="2651760"/>
            <a:ext cx="5212080" cy="329184"/>
          </a:xfrm>
          <a:prstGeom prst="rect">
            <a:avLst/>
          </a:prstGeom>
          <a:noFill/>
        </p:spPr>
        <p:txBody>
          <a:bodyPr wrap="square" lIns="27432" rIns="27432">
            <a:spAutoFit/>
          </a:bodyPr>
          <a:lstStyle/>
          <a:p>
            <a:pPr algn="l">
              <a:defRPr sz="1800" b="1">
                <a:solidFill>
                  <a:srgbClr val="0B1F34"/>
                </a:solidFill>
              </a:defRPr>
            </a:pPr>
            <a:r>
              <a:t>Nature des informations</a:t>
            </a:r>
          </a:p>
        </p:txBody>
      </p:sp>
      <p:sp>
        <p:nvSpPr>
          <p:cNvPr id="24" name="Rounded Rectangle 23"/>
          <p:cNvSpPr/>
          <p:nvPr/>
        </p:nvSpPr>
        <p:spPr>
          <a:xfrm>
            <a:off x="658368" y="3127248"/>
            <a:ext cx="3246120" cy="1417320"/>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58368" y="3127248"/>
            <a:ext cx="64008" cy="1417320"/>
          </a:xfrm>
          <a:prstGeom prst="rect">
            <a:avLst/>
          </a:prstGeom>
          <a:solidFill>
            <a:srgbClr val="21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9536" y="3273552"/>
            <a:ext cx="2862072" cy="256032"/>
          </a:xfrm>
          <a:prstGeom prst="rect">
            <a:avLst/>
          </a:prstGeom>
          <a:noFill/>
        </p:spPr>
        <p:txBody>
          <a:bodyPr wrap="square" lIns="27432" rIns="27432">
            <a:spAutoFit/>
          </a:bodyPr>
          <a:lstStyle/>
          <a:p>
            <a:pPr algn="l">
              <a:defRPr sz="1100" b="1">
                <a:solidFill>
                  <a:srgbClr val="215F9A"/>
                </a:solidFill>
              </a:defRPr>
            </a:pPr>
            <a:r>
              <a:t>Démographiques</a:t>
            </a:r>
          </a:p>
        </p:txBody>
      </p:sp>
      <p:sp>
        <p:nvSpPr>
          <p:cNvPr id="27" name="TextBox 26"/>
          <p:cNvSpPr txBox="1"/>
          <p:nvPr/>
        </p:nvSpPr>
        <p:spPr>
          <a:xfrm>
            <a:off x="859536" y="3639312"/>
            <a:ext cx="2862072" cy="795528"/>
          </a:xfrm>
          <a:prstGeom prst="rect">
            <a:avLst/>
          </a:prstGeom>
          <a:noFill/>
        </p:spPr>
        <p:txBody>
          <a:bodyPr wrap="square" lIns="27432" rIns="27432">
            <a:spAutoFit/>
          </a:bodyPr>
          <a:lstStyle/>
          <a:p>
            <a:pPr algn="l">
              <a:defRPr sz="1050" b="0">
                <a:solidFill>
                  <a:srgbClr val="232C34"/>
                </a:solidFill>
              </a:defRPr>
            </a:pPr>
            <a:r>
              <a:t>age, sex</a:t>
            </a:r>
          </a:p>
        </p:txBody>
      </p:sp>
      <p:sp>
        <p:nvSpPr>
          <p:cNvPr id="28" name="Rounded Rectangle 27"/>
          <p:cNvSpPr/>
          <p:nvPr/>
        </p:nvSpPr>
        <p:spPr>
          <a:xfrm>
            <a:off x="4087368" y="3127248"/>
            <a:ext cx="3246120" cy="1417320"/>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087368" y="3127248"/>
            <a:ext cx="64008" cy="1417320"/>
          </a:xfrm>
          <a:prstGeom prst="rect">
            <a:avLst/>
          </a:prstGeom>
          <a:solidFill>
            <a:srgbClr val="14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288536" y="3273552"/>
            <a:ext cx="2862072" cy="256032"/>
          </a:xfrm>
          <a:prstGeom prst="rect">
            <a:avLst/>
          </a:prstGeom>
          <a:noFill/>
        </p:spPr>
        <p:txBody>
          <a:bodyPr wrap="square" lIns="27432" rIns="27432">
            <a:spAutoFit/>
          </a:bodyPr>
          <a:lstStyle/>
          <a:p>
            <a:pPr algn="l">
              <a:defRPr sz="1050" b="1">
                <a:solidFill>
                  <a:srgbClr val="14807C"/>
                </a:solidFill>
              </a:defRPr>
            </a:pPr>
            <a:r>
              <a:t>Cliniques / examens</a:t>
            </a:r>
          </a:p>
        </p:txBody>
      </p:sp>
      <p:sp>
        <p:nvSpPr>
          <p:cNvPr id="31" name="TextBox 30"/>
          <p:cNvSpPr txBox="1"/>
          <p:nvPr/>
        </p:nvSpPr>
        <p:spPr>
          <a:xfrm>
            <a:off x="4288536" y="3639312"/>
            <a:ext cx="2862072" cy="795528"/>
          </a:xfrm>
          <a:prstGeom prst="rect">
            <a:avLst/>
          </a:prstGeom>
          <a:noFill/>
        </p:spPr>
        <p:txBody>
          <a:bodyPr wrap="square" lIns="27432" rIns="27432">
            <a:spAutoFit/>
          </a:bodyPr>
          <a:lstStyle/>
          <a:p>
            <a:pPr algn="l">
              <a:defRPr sz="950" b="0">
                <a:solidFill>
                  <a:srgbClr val="232C34"/>
                </a:solidFill>
              </a:defRPr>
            </a:pPr>
            <a:r>
              <a:t>cp, trestbps, chol, fbs, restecg, thalach, exang, oldpeak, slope, ca, thal</a:t>
            </a:r>
          </a:p>
        </p:txBody>
      </p:sp>
      <p:sp>
        <p:nvSpPr>
          <p:cNvPr id="32" name="Rounded Rectangle 31"/>
          <p:cNvSpPr/>
          <p:nvPr/>
        </p:nvSpPr>
        <p:spPr>
          <a:xfrm>
            <a:off x="7516368" y="3127248"/>
            <a:ext cx="3246120" cy="1417320"/>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516368" y="3127248"/>
            <a:ext cx="64008" cy="1417320"/>
          </a:xfrm>
          <a:prstGeom prst="rect">
            <a:avLst/>
          </a:prstGeom>
          <a:solidFill>
            <a:srgbClr val="0B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717536" y="3273552"/>
            <a:ext cx="2862072" cy="256032"/>
          </a:xfrm>
          <a:prstGeom prst="rect">
            <a:avLst/>
          </a:prstGeom>
          <a:noFill/>
        </p:spPr>
        <p:txBody>
          <a:bodyPr wrap="square" lIns="27432" rIns="27432">
            <a:spAutoFit/>
          </a:bodyPr>
          <a:lstStyle/>
          <a:p>
            <a:pPr algn="l">
              <a:defRPr sz="1050" b="1">
                <a:solidFill>
                  <a:srgbClr val="0B1F34"/>
                </a:solidFill>
              </a:defRPr>
            </a:pPr>
            <a:r>
              <a:t>Variable cible</a:t>
            </a:r>
          </a:p>
        </p:txBody>
      </p:sp>
      <p:sp>
        <p:nvSpPr>
          <p:cNvPr id="35" name="TextBox 34"/>
          <p:cNvSpPr txBox="1"/>
          <p:nvPr/>
        </p:nvSpPr>
        <p:spPr>
          <a:xfrm>
            <a:off x="7717536" y="3639312"/>
            <a:ext cx="2862072" cy="795528"/>
          </a:xfrm>
          <a:prstGeom prst="rect">
            <a:avLst/>
          </a:prstGeom>
          <a:noFill/>
        </p:spPr>
        <p:txBody>
          <a:bodyPr wrap="square" lIns="27432" rIns="27432">
            <a:spAutoFit/>
          </a:bodyPr>
          <a:lstStyle/>
          <a:p>
            <a:pPr algn="l">
              <a:defRPr sz="950" b="0">
                <a:solidFill>
                  <a:srgbClr val="232C34"/>
                </a:solidFill>
              </a:defRPr>
            </a:pPr>
            <a:r>
              <a:t>target : diagnostic / présence de maladie cardiaque dans le fichier analysé</a:t>
            </a:r>
          </a:p>
        </p:txBody>
      </p:sp>
      <p:sp>
        <p:nvSpPr>
          <p:cNvPr id="36" name="TextBox 35"/>
          <p:cNvSpPr txBox="1"/>
          <p:nvPr/>
        </p:nvSpPr>
        <p:spPr>
          <a:xfrm>
            <a:off x="685800" y="5074920"/>
            <a:ext cx="10698480" cy="594360"/>
          </a:xfrm>
          <a:prstGeom prst="rect">
            <a:avLst/>
          </a:prstGeom>
          <a:noFill/>
        </p:spPr>
        <p:txBody>
          <a:bodyPr wrap="square" lIns="27432" rIns="27432">
            <a:spAutoFit/>
          </a:bodyPr>
          <a:lstStyle/>
          <a:p>
            <a:pPr algn="ctr">
              <a:defRPr sz="1400" b="1">
                <a:solidFill>
                  <a:srgbClr val="232C34"/>
                </a:solidFill>
              </a:defRPr>
            </a:pPr>
            <a:r>
              <a:t>La base combine donc des mesures quantitatives et des variables catégorielles codées par des nombres. Le dtype informatique ne suffit pas à déterminer la nature statistique.</a:t>
            </a:r>
          </a:p>
        </p:txBody>
      </p:sp>
      <p:sp>
        <p:nvSpPr>
          <p:cNvPr id="37" name="TextBox 36"/>
          <p:cNvSpPr txBox="1"/>
          <p:nvPr/>
        </p:nvSpPr>
        <p:spPr>
          <a:xfrm>
            <a:off x="566928" y="6364224"/>
            <a:ext cx="10698480" cy="155448"/>
          </a:xfrm>
          <a:prstGeom prst="rect">
            <a:avLst/>
          </a:prstGeom>
          <a:noFill/>
        </p:spPr>
        <p:txBody>
          <a:bodyPr wrap="square" lIns="27432" rIns="27432">
            <a:spAutoFit/>
          </a:bodyPr>
          <a:lstStyle/>
          <a:p>
            <a:pPr algn="l">
              <a:defRPr sz="690" b="0">
                <a:solidFill>
                  <a:srgbClr val="64707B"/>
                </a:solidFill>
              </a:defRPr>
            </a:pPr>
            <a:r>
              <a:t>Structure observée dans le notebook ; dataset attribué dans la consigne DIT : Heart Disease Cleveland.</a:t>
            </a:r>
          </a:p>
        </p:txBody>
      </p:sp>
      <p:sp>
        <p:nvSpPr>
          <p:cNvPr id="38" name="TextBox 37"/>
          <p:cNvSpPr txBox="1"/>
          <p:nvPr/>
        </p:nvSpPr>
        <p:spPr>
          <a:xfrm>
            <a:off x="566928" y="6601968"/>
            <a:ext cx="7772400" cy="128016"/>
          </a:xfrm>
          <a:prstGeom prst="rect">
            <a:avLst/>
          </a:prstGeom>
          <a:noFill/>
        </p:spPr>
        <p:txBody>
          <a:bodyPr wrap="square" lIns="27432" rIns="27432">
            <a:spAutoFit/>
          </a:bodyPr>
          <a:lstStyle/>
          <a:p>
            <a:pPr algn="l">
              <a:defRPr sz="680" b="0">
                <a:solidFill>
                  <a:srgbClr val="64707B"/>
                </a:solidFill>
              </a:defRPr>
            </a:pPr>
            <a:r>
              <a:t>Joseph MUSENGA • Master 1 A.I • Dakar Institute of Technology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0B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10607040" cy="329184"/>
          </a:xfrm>
          <a:prstGeom prst="rect">
            <a:avLst/>
          </a:prstGeom>
          <a:noFill/>
        </p:spPr>
        <p:txBody>
          <a:bodyPr wrap="square" lIns="27432" rIns="27432">
            <a:spAutoFit/>
          </a:bodyPr>
          <a:lstStyle/>
          <a:p>
            <a:pPr algn="l">
              <a:defRPr sz="2100" b="1">
                <a:solidFill>
                  <a:srgbClr val="FFFFFF"/>
                </a:solidFill>
              </a:defRPr>
            </a:pPr>
            <a:r>
              <a:t>Q1 — Dictionnaire des variables et nature statistique</a:t>
            </a:r>
          </a:p>
        </p:txBody>
      </p:sp>
      <p:sp>
        <p:nvSpPr>
          <p:cNvPr id="5" name="TextBox 4"/>
          <p:cNvSpPr txBox="1"/>
          <p:nvPr/>
        </p:nvSpPr>
        <p:spPr>
          <a:xfrm>
            <a:off x="11109960" y="164592"/>
            <a:ext cx="457200" cy="182880"/>
          </a:xfrm>
          <a:prstGeom prst="rect">
            <a:avLst/>
          </a:prstGeom>
          <a:noFill/>
        </p:spPr>
        <p:txBody>
          <a:bodyPr wrap="square" lIns="27432" rIns="27432">
            <a:spAutoFit/>
          </a:bodyPr>
          <a:lstStyle/>
          <a:p>
            <a:pPr algn="r">
              <a:defRPr sz="900" b="1">
                <a:solidFill>
                  <a:srgbClr val="A3C1DB"/>
                </a:solidFill>
              </a:defRPr>
            </a:pPr>
            <a:r>
              <a:t>04</a:t>
            </a:r>
          </a:p>
        </p:txBody>
      </p:sp>
      <p:sp>
        <p:nvSpPr>
          <p:cNvPr id="6" name="Rectangle 5"/>
          <p:cNvSpPr/>
          <p:nvPr/>
        </p:nvSpPr>
        <p:spPr>
          <a:xfrm>
            <a:off x="438912" y="987552"/>
            <a:ext cx="1280160" cy="320040"/>
          </a:xfrm>
          <a:prstGeom prst="rect">
            <a:avLst/>
          </a:prstGeom>
          <a:solidFill>
            <a:srgbClr val="0B1F3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5488" y="1069848"/>
            <a:ext cx="1207007" cy="201168"/>
          </a:xfrm>
          <a:prstGeom prst="rect">
            <a:avLst/>
          </a:prstGeom>
          <a:noFill/>
        </p:spPr>
        <p:txBody>
          <a:bodyPr wrap="square" lIns="27432" rIns="27432">
            <a:spAutoFit/>
          </a:bodyPr>
          <a:lstStyle/>
          <a:p>
            <a:pPr algn="ctr">
              <a:defRPr sz="819" b="1">
                <a:solidFill>
                  <a:srgbClr val="FFFFFF"/>
                </a:solidFill>
              </a:defRPr>
            </a:pPr>
            <a:r>
              <a:t>Variable</a:t>
            </a:r>
          </a:p>
        </p:txBody>
      </p:sp>
      <p:sp>
        <p:nvSpPr>
          <p:cNvPr id="8" name="Rectangle 7"/>
          <p:cNvSpPr/>
          <p:nvPr/>
        </p:nvSpPr>
        <p:spPr>
          <a:xfrm>
            <a:off x="1719072" y="987552"/>
            <a:ext cx="6720840" cy="320040"/>
          </a:xfrm>
          <a:prstGeom prst="rect">
            <a:avLst/>
          </a:prstGeom>
          <a:solidFill>
            <a:srgbClr val="0B1F3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755648" y="1069848"/>
            <a:ext cx="6647688" cy="201168"/>
          </a:xfrm>
          <a:prstGeom prst="rect">
            <a:avLst/>
          </a:prstGeom>
          <a:noFill/>
        </p:spPr>
        <p:txBody>
          <a:bodyPr wrap="square" lIns="27432" rIns="27432">
            <a:spAutoFit/>
          </a:bodyPr>
          <a:lstStyle/>
          <a:p>
            <a:pPr algn="l">
              <a:defRPr sz="819" b="1">
                <a:solidFill>
                  <a:srgbClr val="FFFFFF"/>
                </a:solidFill>
              </a:defRPr>
            </a:pPr>
            <a:r>
              <a:t>Signification</a:t>
            </a:r>
          </a:p>
        </p:txBody>
      </p:sp>
      <p:sp>
        <p:nvSpPr>
          <p:cNvPr id="10" name="Rectangle 9"/>
          <p:cNvSpPr/>
          <p:nvPr/>
        </p:nvSpPr>
        <p:spPr>
          <a:xfrm>
            <a:off x="8439912" y="987552"/>
            <a:ext cx="3337560" cy="320040"/>
          </a:xfrm>
          <a:prstGeom prst="rect">
            <a:avLst/>
          </a:prstGeom>
          <a:solidFill>
            <a:srgbClr val="0B1F3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76488" y="1069848"/>
            <a:ext cx="3264408" cy="201168"/>
          </a:xfrm>
          <a:prstGeom prst="rect">
            <a:avLst/>
          </a:prstGeom>
          <a:noFill/>
        </p:spPr>
        <p:txBody>
          <a:bodyPr wrap="square" lIns="27432" rIns="27432">
            <a:spAutoFit/>
          </a:bodyPr>
          <a:lstStyle/>
          <a:p>
            <a:pPr algn="l">
              <a:defRPr sz="819" b="1">
                <a:solidFill>
                  <a:srgbClr val="FFFFFF"/>
                </a:solidFill>
              </a:defRPr>
            </a:pPr>
            <a:r>
              <a:t>Nature</a:t>
            </a:r>
          </a:p>
        </p:txBody>
      </p:sp>
      <p:sp>
        <p:nvSpPr>
          <p:cNvPr id="12" name="Rectangle 11"/>
          <p:cNvSpPr/>
          <p:nvPr/>
        </p:nvSpPr>
        <p:spPr>
          <a:xfrm>
            <a:off x="438912" y="1325880"/>
            <a:ext cx="128016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5488" y="1408176"/>
            <a:ext cx="1207007" cy="201168"/>
          </a:xfrm>
          <a:prstGeom prst="rect">
            <a:avLst/>
          </a:prstGeom>
          <a:noFill/>
        </p:spPr>
        <p:txBody>
          <a:bodyPr wrap="square" lIns="27432" rIns="27432">
            <a:spAutoFit/>
          </a:bodyPr>
          <a:lstStyle/>
          <a:p>
            <a:pPr algn="ctr">
              <a:defRPr sz="819" b="1">
                <a:solidFill>
                  <a:srgbClr val="232C34"/>
                </a:solidFill>
              </a:defRPr>
            </a:pPr>
            <a:r>
              <a:t>age</a:t>
            </a:r>
          </a:p>
        </p:txBody>
      </p:sp>
      <p:sp>
        <p:nvSpPr>
          <p:cNvPr id="14" name="Rectangle 13"/>
          <p:cNvSpPr/>
          <p:nvPr/>
        </p:nvSpPr>
        <p:spPr>
          <a:xfrm>
            <a:off x="1719072" y="1325880"/>
            <a:ext cx="672084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755648" y="1408176"/>
            <a:ext cx="6647688" cy="201168"/>
          </a:xfrm>
          <a:prstGeom prst="rect">
            <a:avLst/>
          </a:prstGeom>
          <a:noFill/>
        </p:spPr>
        <p:txBody>
          <a:bodyPr wrap="square" lIns="27432" rIns="27432">
            <a:spAutoFit/>
          </a:bodyPr>
          <a:lstStyle/>
          <a:p>
            <a:pPr algn="l">
              <a:defRPr sz="819" b="0">
                <a:solidFill>
                  <a:srgbClr val="232C34"/>
                </a:solidFill>
              </a:defRPr>
            </a:pPr>
            <a:r>
              <a:t>Âge du patient</a:t>
            </a:r>
          </a:p>
        </p:txBody>
      </p:sp>
      <p:sp>
        <p:nvSpPr>
          <p:cNvPr id="16" name="Rectangle 15"/>
          <p:cNvSpPr/>
          <p:nvPr/>
        </p:nvSpPr>
        <p:spPr>
          <a:xfrm>
            <a:off x="8439912" y="1325880"/>
            <a:ext cx="333756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76488" y="1408176"/>
            <a:ext cx="3264408" cy="201168"/>
          </a:xfrm>
          <a:prstGeom prst="rect">
            <a:avLst/>
          </a:prstGeom>
          <a:noFill/>
        </p:spPr>
        <p:txBody>
          <a:bodyPr wrap="square" lIns="27432" rIns="27432">
            <a:spAutoFit/>
          </a:bodyPr>
          <a:lstStyle/>
          <a:p>
            <a:pPr algn="l">
              <a:defRPr sz="819" b="0">
                <a:solidFill>
                  <a:srgbClr val="232C34"/>
                </a:solidFill>
              </a:defRPr>
            </a:pPr>
            <a:r>
              <a:t>Quantitative</a:t>
            </a:r>
          </a:p>
        </p:txBody>
      </p:sp>
      <p:sp>
        <p:nvSpPr>
          <p:cNvPr id="18" name="Rectangle 17"/>
          <p:cNvSpPr/>
          <p:nvPr/>
        </p:nvSpPr>
        <p:spPr>
          <a:xfrm>
            <a:off x="438912" y="1664208"/>
            <a:ext cx="128016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5488" y="1746504"/>
            <a:ext cx="1207007" cy="201168"/>
          </a:xfrm>
          <a:prstGeom prst="rect">
            <a:avLst/>
          </a:prstGeom>
          <a:noFill/>
        </p:spPr>
        <p:txBody>
          <a:bodyPr wrap="square" lIns="27432" rIns="27432">
            <a:spAutoFit/>
          </a:bodyPr>
          <a:lstStyle/>
          <a:p>
            <a:pPr algn="ctr">
              <a:defRPr sz="819" b="1">
                <a:solidFill>
                  <a:srgbClr val="232C34"/>
                </a:solidFill>
              </a:defRPr>
            </a:pPr>
            <a:r>
              <a:t>sex</a:t>
            </a:r>
          </a:p>
        </p:txBody>
      </p:sp>
      <p:sp>
        <p:nvSpPr>
          <p:cNvPr id="20" name="Rectangle 19"/>
          <p:cNvSpPr/>
          <p:nvPr/>
        </p:nvSpPr>
        <p:spPr>
          <a:xfrm>
            <a:off x="1719072" y="1664208"/>
            <a:ext cx="672084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755648" y="1746504"/>
            <a:ext cx="6647688" cy="201168"/>
          </a:xfrm>
          <a:prstGeom prst="rect">
            <a:avLst/>
          </a:prstGeom>
          <a:noFill/>
        </p:spPr>
        <p:txBody>
          <a:bodyPr wrap="square" lIns="27432" rIns="27432">
            <a:spAutoFit/>
          </a:bodyPr>
          <a:lstStyle/>
          <a:p>
            <a:pPr algn="l">
              <a:defRPr sz="819" b="0">
                <a:solidFill>
                  <a:srgbClr val="232C34"/>
                </a:solidFill>
              </a:defRPr>
            </a:pPr>
            <a:r>
              <a:t>Sexe</a:t>
            </a:r>
          </a:p>
        </p:txBody>
      </p:sp>
      <p:sp>
        <p:nvSpPr>
          <p:cNvPr id="22" name="Rectangle 21"/>
          <p:cNvSpPr/>
          <p:nvPr/>
        </p:nvSpPr>
        <p:spPr>
          <a:xfrm>
            <a:off x="8439912" y="1664208"/>
            <a:ext cx="333756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76488" y="1746504"/>
            <a:ext cx="3264408" cy="201168"/>
          </a:xfrm>
          <a:prstGeom prst="rect">
            <a:avLst/>
          </a:prstGeom>
          <a:noFill/>
        </p:spPr>
        <p:txBody>
          <a:bodyPr wrap="square" lIns="27432" rIns="27432">
            <a:spAutoFit/>
          </a:bodyPr>
          <a:lstStyle/>
          <a:p>
            <a:pPr algn="l">
              <a:defRPr sz="819" b="0">
                <a:solidFill>
                  <a:srgbClr val="232C34"/>
                </a:solidFill>
              </a:defRPr>
            </a:pPr>
            <a:r>
              <a:t>Catégorielle binaire</a:t>
            </a:r>
          </a:p>
        </p:txBody>
      </p:sp>
      <p:sp>
        <p:nvSpPr>
          <p:cNvPr id="24" name="Rectangle 23"/>
          <p:cNvSpPr/>
          <p:nvPr/>
        </p:nvSpPr>
        <p:spPr>
          <a:xfrm>
            <a:off x="438912" y="2002536"/>
            <a:ext cx="128016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5488" y="2084831"/>
            <a:ext cx="1207007" cy="201168"/>
          </a:xfrm>
          <a:prstGeom prst="rect">
            <a:avLst/>
          </a:prstGeom>
          <a:noFill/>
        </p:spPr>
        <p:txBody>
          <a:bodyPr wrap="square" lIns="27432" rIns="27432">
            <a:spAutoFit/>
          </a:bodyPr>
          <a:lstStyle/>
          <a:p>
            <a:pPr algn="ctr">
              <a:defRPr sz="819" b="1">
                <a:solidFill>
                  <a:srgbClr val="232C34"/>
                </a:solidFill>
              </a:defRPr>
            </a:pPr>
            <a:r>
              <a:t>cp</a:t>
            </a:r>
          </a:p>
        </p:txBody>
      </p:sp>
      <p:sp>
        <p:nvSpPr>
          <p:cNvPr id="26" name="Rectangle 25"/>
          <p:cNvSpPr/>
          <p:nvPr/>
        </p:nvSpPr>
        <p:spPr>
          <a:xfrm>
            <a:off x="1719072" y="2002536"/>
            <a:ext cx="672084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755648" y="2084831"/>
            <a:ext cx="6647688" cy="201168"/>
          </a:xfrm>
          <a:prstGeom prst="rect">
            <a:avLst/>
          </a:prstGeom>
          <a:noFill/>
        </p:spPr>
        <p:txBody>
          <a:bodyPr wrap="square" lIns="27432" rIns="27432">
            <a:spAutoFit/>
          </a:bodyPr>
          <a:lstStyle/>
          <a:p>
            <a:pPr algn="l">
              <a:defRPr sz="819" b="0">
                <a:solidFill>
                  <a:srgbClr val="232C34"/>
                </a:solidFill>
              </a:defRPr>
            </a:pPr>
            <a:r>
              <a:t>Type de douleur thoracique</a:t>
            </a:r>
          </a:p>
        </p:txBody>
      </p:sp>
      <p:sp>
        <p:nvSpPr>
          <p:cNvPr id="28" name="Rectangle 27"/>
          <p:cNvSpPr/>
          <p:nvPr/>
        </p:nvSpPr>
        <p:spPr>
          <a:xfrm>
            <a:off x="8439912" y="2002536"/>
            <a:ext cx="333756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76488" y="2084831"/>
            <a:ext cx="3264408" cy="201168"/>
          </a:xfrm>
          <a:prstGeom prst="rect">
            <a:avLst/>
          </a:prstGeom>
          <a:noFill/>
        </p:spPr>
        <p:txBody>
          <a:bodyPr wrap="square" lIns="27432" rIns="27432">
            <a:spAutoFit/>
          </a:bodyPr>
          <a:lstStyle/>
          <a:p>
            <a:pPr algn="l">
              <a:defRPr sz="819" b="0">
                <a:solidFill>
                  <a:srgbClr val="232C34"/>
                </a:solidFill>
              </a:defRPr>
            </a:pPr>
            <a:r>
              <a:t>Catégorielle</a:t>
            </a:r>
          </a:p>
        </p:txBody>
      </p:sp>
      <p:sp>
        <p:nvSpPr>
          <p:cNvPr id="30" name="Rectangle 29"/>
          <p:cNvSpPr/>
          <p:nvPr/>
        </p:nvSpPr>
        <p:spPr>
          <a:xfrm>
            <a:off x="438912" y="2340864"/>
            <a:ext cx="128016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75488" y="2423160"/>
            <a:ext cx="1207007" cy="201168"/>
          </a:xfrm>
          <a:prstGeom prst="rect">
            <a:avLst/>
          </a:prstGeom>
          <a:noFill/>
        </p:spPr>
        <p:txBody>
          <a:bodyPr wrap="square" lIns="27432" rIns="27432">
            <a:spAutoFit/>
          </a:bodyPr>
          <a:lstStyle/>
          <a:p>
            <a:pPr algn="ctr">
              <a:defRPr sz="819" b="1">
                <a:solidFill>
                  <a:srgbClr val="232C34"/>
                </a:solidFill>
              </a:defRPr>
            </a:pPr>
            <a:r>
              <a:t>trestbps</a:t>
            </a:r>
          </a:p>
        </p:txBody>
      </p:sp>
      <p:sp>
        <p:nvSpPr>
          <p:cNvPr id="32" name="Rectangle 31"/>
          <p:cNvSpPr/>
          <p:nvPr/>
        </p:nvSpPr>
        <p:spPr>
          <a:xfrm>
            <a:off x="1719072" y="2340864"/>
            <a:ext cx="672084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755648" y="2423160"/>
            <a:ext cx="6647688" cy="201168"/>
          </a:xfrm>
          <a:prstGeom prst="rect">
            <a:avLst/>
          </a:prstGeom>
          <a:noFill/>
        </p:spPr>
        <p:txBody>
          <a:bodyPr wrap="square" lIns="27432" rIns="27432">
            <a:spAutoFit/>
          </a:bodyPr>
          <a:lstStyle/>
          <a:p>
            <a:pPr algn="l">
              <a:defRPr sz="819" b="0">
                <a:solidFill>
                  <a:srgbClr val="232C34"/>
                </a:solidFill>
              </a:defRPr>
            </a:pPr>
            <a:r>
              <a:t>Pression artérielle au repos</a:t>
            </a:r>
          </a:p>
        </p:txBody>
      </p:sp>
      <p:sp>
        <p:nvSpPr>
          <p:cNvPr id="34" name="Rectangle 33"/>
          <p:cNvSpPr/>
          <p:nvPr/>
        </p:nvSpPr>
        <p:spPr>
          <a:xfrm>
            <a:off x="8439912" y="2340864"/>
            <a:ext cx="333756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476488" y="2423160"/>
            <a:ext cx="3264408" cy="201168"/>
          </a:xfrm>
          <a:prstGeom prst="rect">
            <a:avLst/>
          </a:prstGeom>
          <a:noFill/>
        </p:spPr>
        <p:txBody>
          <a:bodyPr wrap="square" lIns="27432" rIns="27432">
            <a:spAutoFit/>
          </a:bodyPr>
          <a:lstStyle/>
          <a:p>
            <a:pPr algn="l">
              <a:defRPr sz="819" b="0">
                <a:solidFill>
                  <a:srgbClr val="232C34"/>
                </a:solidFill>
              </a:defRPr>
            </a:pPr>
            <a:r>
              <a:t>Quantitative</a:t>
            </a:r>
          </a:p>
        </p:txBody>
      </p:sp>
      <p:sp>
        <p:nvSpPr>
          <p:cNvPr id="36" name="Rectangle 35"/>
          <p:cNvSpPr/>
          <p:nvPr/>
        </p:nvSpPr>
        <p:spPr>
          <a:xfrm>
            <a:off x="438912" y="2679192"/>
            <a:ext cx="128016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75488" y="2761488"/>
            <a:ext cx="1207007" cy="201168"/>
          </a:xfrm>
          <a:prstGeom prst="rect">
            <a:avLst/>
          </a:prstGeom>
          <a:noFill/>
        </p:spPr>
        <p:txBody>
          <a:bodyPr wrap="square" lIns="27432" rIns="27432">
            <a:spAutoFit/>
          </a:bodyPr>
          <a:lstStyle/>
          <a:p>
            <a:pPr algn="ctr">
              <a:defRPr sz="819" b="1">
                <a:solidFill>
                  <a:srgbClr val="232C34"/>
                </a:solidFill>
              </a:defRPr>
            </a:pPr>
            <a:r>
              <a:t>chol</a:t>
            </a:r>
          </a:p>
        </p:txBody>
      </p:sp>
      <p:sp>
        <p:nvSpPr>
          <p:cNvPr id="38" name="Rectangle 37"/>
          <p:cNvSpPr/>
          <p:nvPr/>
        </p:nvSpPr>
        <p:spPr>
          <a:xfrm>
            <a:off x="1719072" y="2679192"/>
            <a:ext cx="672084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755648" y="2761488"/>
            <a:ext cx="6647688" cy="201168"/>
          </a:xfrm>
          <a:prstGeom prst="rect">
            <a:avLst/>
          </a:prstGeom>
          <a:noFill/>
        </p:spPr>
        <p:txBody>
          <a:bodyPr wrap="square" lIns="27432" rIns="27432">
            <a:spAutoFit/>
          </a:bodyPr>
          <a:lstStyle/>
          <a:p>
            <a:pPr algn="l">
              <a:defRPr sz="819" b="0">
                <a:solidFill>
                  <a:srgbClr val="232C34"/>
                </a:solidFill>
              </a:defRPr>
            </a:pPr>
            <a:r>
              <a:t>Cholestérol sérique</a:t>
            </a:r>
          </a:p>
        </p:txBody>
      </p:sp>
      <p:sp>
        <p:nvSpPr>
          <p:cNvPr id="40" name="Rectangle 39"/>
          <p:cNvSpPr/>
          <p:nvPr/>
        </p:nvSpPr>
        <p:spPr>
          <a:xfrm>
            <a:off x="8439912" y="2679192"/>
            <a:ext cx="333756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476488" y="2761488"/>
            <a:ext cx="3264408" cy="201168"/>
          </a:xfrm>
          <a:prstGeom prst="rect">
            <a:avLst/>
          </a:prstGeom>
          <a:noFill/>
        </p:spPr>
        <p:txBody>
          <a:bodyPr wrap="square" lIns="27432" rIns="27432">
            <a:spAutoFit/>
          </a:bodyPr>
          <a:lstStyle/>
          <a:p>
            <a:pPr algn="l">
              <a:defRPr sz="819" b="0">
                <a:solidFill>
                  <a:srgbClr val="232C34"/>
                </a:solidFill>
              </a:defRPr>
            </a:pPr>
            <a:r>
              <a:t>Quantitative</a:t>
            </a:r>
          </a:p>
        </p:txBody>
      </p:sp>
      <p:sp>
        <p:nvSpPr>
          <p:cNvPr id="42" name="Rectangle 41"/>
          <p:cNvSpPr/>
          <p:nvPr/>
        </p:nvSpPr>
        <p:spPr>
          <a:xfrm>
            <a:off x="438912" y="3017520"/>
            <a:ext cx="128016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75488" y="3099815"/>
            <a:ext cx="1207007" cy="201168"/>
          </a:xfrm>
          <a:prstGeom prst="rect">
            <a:avLst/>
          </a:prstGeom>
          <a:noFill/>
        </p:spPr>
        <p:txBody>
          <a:bodyPr wrap="square" lIns="27432" rIns="27432">
            <a:spAutoFit/>
          </a:bodyPr>
          <a:lstStyle/>
          <a:p>
            <a:pPr algn="ctr">
              <a:defRPr sz="819" b="1">
                <a:solidFill>
                  <a:srgbClr val="232C34"/>
                </a:solidFill>
              </a:defRPr>
            </a:pPr>
            <a:r>
              <a:t>fbs</a:t>
            </a:r>
          </a:p>
        </p:txBody>
      </p:sp>
      <p:sp>
        <p:nvSpPr>
          <p:cNvPr id="44" name="Rectangle 43"/>
          <p:cNvSpPr/>
          <p:nvPr/>
        </p:nvSpPr>
        <p:spPr>
          <a:xfrm>
            <a:off x="1719072" y="3017520"/>
            <a:ext cx="672084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755648" y="3099815"/>
            <a:ext cx="6647688" cy="201168"/>
          </a:xfrm>
          <a:prstGeom prst="rect">
            <a:avLst/>
          </a:prstGeom>
          <a:noFill/>
        </p:spPr>
        <p:txBody>
          <a:bodyPr wrap="square" lIns="27432" rIns="27432">
            <a:spAutoFit/>
          </a:bodyPr>
          <a:lstStyle/>
          <a:p>
            <a:pPr algn="l">
              <a:defRPr sz="819" b="0">
                <a:solidFill>
                  <a:srgbClr val="232C34"/>
                </a:solidFill>
              </a:defRPr>
            </a:pPr>
            <a:r>
              <a:t>Glycémie à jeun &gt; 120 mg/dL</a:t>
            </a:r>
          </a:p>
        </p:txBody>
      </p:sp>
      <p:sp>
        <p:nvSpPr>
          <p:cNvPr id="46" name="Rectangle 45"/>
          <p:cNvSpPr/>
          <p:nvPr/>
        </p:nvSpPr>
        <p:spPr>
          <a:xfrm>
            <a:off x="8439912" y="3017520"/>
            <a:ext cx="333756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476488" y="3099815"/>
            <a:ext cx="3264408" cy="201168"/>
          </a:xfrm>
          <a:prstGeom prst="rect">
            <a:avLst/>
          </a:prstGeom>
          <a:noFill/>
        </p:spPr>
        <p:txBody>
          <a:bodyPr wrap="square" lIns="27432" rIns="27432">
            <a:spAutoFit/>
          </a:bodyPr>
          <a:lstStyle/>
          <a:p>
            <a:pPr algn="l">
              <a:defRPr sz="819" b="0">
                <a:solidFill>
                  <a:srgbClr val="232C34"/>
                </a:solidFill>
              </a:defRPr>
            </a:pPr>
            <a:r>
              <a:t>Catégorielle binaire</a:t>
            </a:r>
          </a:p>
        </p:txBody>
      </p:sp>
      <p:sp>
        <p:nvSpPr>
          <p:cNvPr id="48" name="Rectangle 47"/>
          <p:cNvSpPr/>
          <p:nvPr/>
        </p:nvSpPr>
        <p:spPr>
          <a:xfrm>
            <a:off x="438912" y="3355848"/>
            <a:ext cx="128016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75488" y="3438144"/>
            <a:ext cx="1207007" cy="201168"/>
          </a:xfrm>
          <a:prstGeom prst="rect">
            <a:avLst/>
          </a:prstGeom>
          <a:noFill/>
        </p:spPr>
        <p:txBody>
          <a:bodyPr wrap="square" lIns="27432" rIns="27432">
            <a:spAutoFit/>
          </a:bodyPr>
          <a:lstStyle/>
          <a:p>
            <a:pPr algn="ctr">
              <a:defRPr sz="819" b="1">
                <a:solidFill>
                  <a:srgbClr val="232C34"/>
                </a:solidFill>
              </a:defRPr>
            </a:pPr>
            <a:r>
              <a:t>restecg</a:t>
            </a:r>
          </a:p>
        </p:txBody>
      </p:sp>
      <p:sp>
        <p:nvSpPr>
          <p:cNvPr id="50" name="Rectangle 49"/>
          <p:cNvSpPr/>
          <p:nvPr/>
        </p:nvSpPr>
        <p:spPr>
          <a:xfrm>
            <a:off x="1719072" y="3355848"/>
            <a:ext cx="672084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755648" y="3438144"/>
            <a:ext cx="6647688" cy="201168"/>
          </a:xfrm>
          <a:prstGeom prst="rect">
            <a:avLst/>
          </a:prstGeom>
          <a:noFill/>
        </p:spPr>
        <p:txBody>
          <a:bodyPr wrap="square" lIns="27432" rIns="27432">
            <a:spAutoFit/>
          </a:bodyPr>
          <a:lstStyle/>
          <a:p>
            <a:pPr algn="l">
              <a:defRPr sz="819" b="0">
                <a:solidFill>
                  <a:srgbClr val="232C34"/>
                </a:solidFill>
              </a:defRPr>
            </a:pPr>
            <a:r>
              <a:t>Résultat ECG au repos</a:t>
            </a:r>
          </a:p>
        </p:txBody>
      </p:sp>
      <p:sp>
        <p:nvSpPr>
          <p:cNvPr id="52" name="Rectangle 51"/>
          <p:cNvSpPr/>
          <p:nvPr/>
        </p:nvSpPr>
        <p:spPr>
          <a:xfrm>
            <a:off x="8439912" y="3355848"/>
            <a:ext cx="333756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476488" y="3438144"/>
            <a:ext cx="3264408" cy="201168"/>
          </a:xfrm>
          <a:prstGeom prst="rect">
            <a:avLst/>
          </a:prstGeom>
          <a:noFill/>
        </p:spPr>
        <p:txBody>
          <a:bodyPr wrap="square" lIns="27432" rIns="27432">
            <a:spAutoFit/>
          </a:bodyPr>
          <a:lstStyle/>
          <a:p>
            <a:pPr algn="l">
              <a:defRPr sz="819" b="0">
                <a:solidFill>
                  <a:srgbClr val="232C34"/>
                </a:solidFill>
              </a:defRPr>
            </a:pPr>
            <a:r>
              <a:t>Catégorielle</a:t>
            </a:r>
          </a:p>
        </p:txBody>
      </p:sp>
      <p:sp>
        <p:nvSpPr>
          <p:cNvPr id="54" name="Rectangle 53"/>
          <p:cNvSpPr/>
          <p:nvPr/>
        </p:nvSpPr>
        <p:spPr>
          <a:xfrm>
            <a:off x="438912" y="3694176"/>
            <a:ext cx="128016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75488" y="3776472"/>
            <a:ext cx="1207007" cy="201168"/>
          </a:xfrm>
          <a:prstGeom prst="rect">
            <a:avLst/>
          </a:prstGeom>
          <a:noFill/>
        </p:spPr>
        <p:txBody>
          <a:bodyPr wrap="square" lIns="27432" rIns="27432">
            <a:spAutoFit/>
          </a:bodyPr>
          <a:lstStyle/>
          <a:p>
            <a:pPr algn="ctr">
              <a:defRPr sz="819" b="1">
                <a:solidFill>
                  <a:srgbClr val="232C34"/>
                </a:solidFill>
              </a:defRPr>
            </a:pPr>
            <a:r>
              <a:t>thalach</a:t>
            </a:r>
          </a:p>
        </p:txBody>
      </p:sp>
      <p:sp>
        <p:nvSpPr>
          <p:cNvPr id="56" name="Rectangle 55"/>
          <p:cNvSpPr/>
          <p:nvPr/>
        </p:nvSpPr>
        <p:spPr>
          <a:xfrm>
            <a:off x="1719072" y="3694176"/>
            <a:ext cx="672084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755648" y="3776472"/>
            <a:ext cx="6647688" cy="201168"/>
          </a:xfrm>
          <a:prstGeom prst="rect">
            <a:avLst/>
          </a:prstGeom>
          <a:noFill/>
        </p:spPr>
        <p:txBody>
          <a:bodyPr wrap="square" lIns="27432" rIns="27432">
            <a:spAutoFit/>
          </a:bodyPr>
          <a:lstStyle/>
          <a:p>
            <a:pPr algn="l">
              <a:defRPr sz="819" b="0">
                <a:solidFill>
                  <a:srgbClr val="232C34"/>
                </a:solidFill>
              </a:defRPr>
            </a:pPr>
            <a:r>
              <a:t>Fréquence cardiaque maximale atteinte</a:t>
            </a:r>
          </a:p>
        </p:txBody>
      </p:sp>
      <p:sp>
        <p:nvSpPr>
          <p:cNvPr id="58" name="Rectangle 57"/>
          <p:cNvSpPr/>
          <p:nvPr/>
        </p:nvSpPr>
        <p:spPr>
          <a:xfrm>
            <a:off x="8439912" y="3694176"/>
            <a:ext cx="333756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476488" y="3776472"/>
            <a:ext cx="3264408" cy="201168"/>
          </a:xfrm>
          <a:prstGeom prst="rect">
            <a:avLst/>
          </a:prstGeom>
          <a:noFill/>
        </p:spPr>
        <p:txBody>
          <a:bodyPr wrap="square" lIns="27432" rIns="27432">
            <a:spAutoFit/>
          </a:bodyPr>
          <a:lstStyle/>
          <a:p>
            <a:pPr algn="l">
              <a:defRPr sz="819" b="0">
                <a:solidFill>
                  <a:srgbClr val="232C34"/>
                </a:solidFill>
              </a:defRPr>
            </a:pPr>
            <a:r>
              <a:t>Quantitative</a:t>
            </a:r>
          </a:p>
        </p:txBody>
      </p:sp>
      <p:sp>
        <p:nvSpPr>
          <p:cNvPr id="60" name="Rectangle 59"/>
          <p:cNvSpPr/>
          <p:nvPr/>
        </p:nvSpPr>
        <p:spPr>
          <a:xfrm>
            <a:off x="438912" y="4032504"/>
            <a:ext cx="128016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75488" y="4114800"/>
            <a:ext cx="1207007" cy="201168"/>
          </a:xfrm>
          <a:prstGeom prst="rect">
            <a:avLst/>
          </a:prstGeom>
          <a:noFill/>
        </p:spPr>
        <p:txBody>
          <a:bodyPr wrap="square" lIns="27432" rIns="27432">
            <a:spAutoFit/>
          </a:bodyPr>
          <a:lstStyle/>
          <a:p>
            <a:pPr algn="ctr">
              <a:defRPr sz="819" b="1">
                <a:solidFill>
                  <a:srgbClr val="232C34"/>
                </a:solidFill>
              </a:defRPr>
            </a:pPr>
            <a:r>
              <a:t>exang</a:t>
            </a:r>
          </a:p>
        </p:txBody>
      </p:sp>
      <p:sp>
        <p:nvSpPr>
          <p:cNvPr id="62" name="Rectangle 61"/>
          <p:cNvSpPr/>
          <p:nvPr/>
        </p:nvSpPr>
        <p:spPr>
          <a:xfrm>
            <a:off x="1719072" y="4032504"/>
            <a:ext cx="672084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755648" y="4114800"/>
            <a:ext cx="6647688" cy="201168"/>
          </a:xfrm>
          <a:prstGeom prst="rect">
            <a:avLst/>
          </a:prstGeom>
          <a:noFill/>
        </p:spPr>
        <p:txBody>
          <a:bodyPr wrap="square" lIns="27432" rIns="27432">
            <a:spAutoFit/>
          </a:bodyPr>
          <a:lstStyle/>
          <a:p>
            <a:pPr algn="l">
              <a:defRPr sz="819" b="0">
                <a:solidFill>
                  <a:srgbClr val="232C34"/>
                </a:solidFill>
              </a:defRPr>
            </a:pPr>
            <a:r>
              <a:t>Angine induite par l’effort</a:t>
            </a:r>
          </a:p>
        </p:txBody>
      </p:sp>
      <p:sp>
        <p:nvSpPr>
          <p:cNvPr id="64" name="Rectangle 63"/>
          <p:cNvSpPr/>
          <p:nvPr/>
        </p:nvSpPr>
        <p:spPr>
          <a:xfrm>
            <a:off x="8439912" y="4032504"/>
            <a:ext cx="333756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476488" y="4114800"/>
            <a:ext cx="3264408" cy="201168"/>
          </a:xfrm>
          <a:prstGeom prst="rect">
            <a:avLst/>
          </a:prstGeom>
          <a:noFill/>
        </p:spPr>
        <p:txBody>
          <a:bodyPr wrap="square" lIns="27432" rIns="27432">
            <a:spAutoFit/>
          </a:bodyPr>
          <a:lstStyle/>
          <a:p>
            <a:pPr algn="l">
              <a:defRPr sz="819" b="0">
                <a:solidFill>
                  <a:srgbClr val="232C34"/>
                </a:solidFill>
              </a:defRPr>
            </a:pPr>
            <a:r>
              <a:t>Catégorielle binaire</a:t>
            </a:r>
          </a:p>
        </p:txBody>
      </p:sp>
      <p:sp>
        <p:nvSpPr>
          <p:cNvPr id="66" name="Rectangle 65"/>
          <p:cNvSpPr/>
          <p:nvPr/>
        </p:nvSpPr>
        <p:spPr>
          <a:xfrm>
            <a:off x="438912" y="4370832"/>
            <a:ext cx="128016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75488" y="4453128"/>
            <a:ext cx="1207007" cy="201168"/>
          </a:xfrm>
          <a:prstGeom prst="rect">
            <a:avLst/>
          </a:prstGeom>
          <a:noFill/>
        </p:spPr>
        <p:txBody>
          <a:bodyPr wrap="square" lIns="27432" rIns="27432">
            <a:spAutoFit/>
          </a:bodyPr>
          <a:lstStyle/>
          <a:p>
            <a:pPr algn="ctr">
              <a:defRPr sz="819" b="1">
                <a:solidFill>
                  <a:srgbClr val="232C34"/>
                </a:solidFill>
              </a:defRPr>
            </a:pPr>
            <a:r>
              <a:t>oldpeak</a:t>
            </a:r>
          </a:p>
        </p:txBody>
      </p:sp>
      <p:sp>
        <p:nvSpPr>
          <p:cNvPr id="68" name="Rectangle 67"/>
          <p:cNvSpPr/>
          <p:nvPr/>
        </p:nvSpPr>
        <p:spPr>
          <a:xfrm>
            <a:off x="1719072" y="4370832"/>
            <a:ext cx="672084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755648" y="4453128"/>
            <a:ext cx="6647688" cy="201168"/>
          </a:xfrm>
          <a:prstGeom prst="rect">
            <a:avLst/>
          </a:prstGeom>
          <a:noFill/>
        </p:spPr>
        <p:txBody>
          <a:bodyPr wrap="square" lIns="27432" rIns="27432">
            <a:spAutoFit/>
          </a:bodyPr>
          <a:lstStyle/>
          <a:p>
            <a:pPr algn="l">
              <a:defRPr sz="819" b="0">
                <a:solidFill>
                  <a:srgbClr val="232C34"/>
                </a:solidFill>
              </a:defRPr>
            </a:pPr>
            <a:r>
              <a:t>Dépression ST induite par l’effort vs repos</a:t>
            </a:r>
          </a:p>
        </p:txBody>
      </p:sp>
      <p:sp>
        <p:nvSpPr>
          <p:cNvPr id="70" name="Rectangle 69"/>
          <p:cNvSpPr/>
          <p:nvPr/>
        </p:nvSpPr>
        <p:spPr>
          <a:xfrm>
            <a:off x="8439912" y="4370832"/>
            <a:ext cx="333756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476488" y="4453128"/>
            <a:ext cx="3264408" cy="201168"/>
          </a:xfrm>
          <a:prstGeom prst="rect">
            <a:avLst/>
          </a:prstGeom>
          <a:noFill/>
        </p:spPr>
        <p:txBody>
          <a:bodyPr wrap="square" lIns="27432" rIns="27432">
            <a:spAutoFit/>
          </a:bodyPr>
          <a:lstStyle/>
          <a:p>
            <a:pPr algn="l">
              <a:defRPr sz="819" b="0">
                <a:solidFill>
                  <a:srgbClr val="232C34"/>
                </a:solidFill>
              </a:defRPr>
            </a:pPr>
            <a:r>
              <a:t>Quantitative</a:t>
            </a:r>
          </a:p>
        </p:txBody>
      </p:sp>
      <p:sp>
        <p:nvSpPr>
          <p:cNvPr id="72" name="Rectangle 71"/>
          <p:cNvSpPr/>
          <p:nvPr/>
        </p:nvSpPr>
        <p:spPr>
          <a:xfrm>
            <a:off x="438912" y="4709160"/>
            <a:ext cx="128016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475488" y="4791456"/>
            <a:ext cx="1207007" cy="201168"/>
          </a:xfrm>
          <a:prstGeom prst="rect">
            <a:avLst/>
          </a:prstGeom>
          <a:noFill/>
        </p:spPr>
        <p:txBody>
          <a:bodyPr wrap="square" lIns="27432" rIns="27432">
            <a:spAutoFit/>
          </a:bodyPr>
          <a:lstStyle/>
          <a:p>
            <a:pPr algn="ctr">
              <a:defRPr sz="819" b="1">
                <a:solidFill>
                  <a:srgbClr val="232C34"/>
                </a:solidFill>
              </a:defRPr>
            </a:pPr>
            <a:r>
              <a:t>slope</a:t>
            </a:r>
          </a:p>
        </p:txBody>
      </p:sp>
      <p:sp>
        <p:nvSpPr>
          <p:cNvPr id="74" name="Rectangle 73"/>
          <p:cNvSpPr/>
          <p:nvPr/>
        </p:nvSpPr>
        <p:spPr>
          <a:xfrm>
            <a:off x="1719072" y="4709160"/>
            <a:ext cx="672084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755648" y="4791456"/>
            <a:ext cx="6647688" cy="201168"/>
          </a:xfrm>
          <a:prstGeom prst="rect">
            <a:avLst/>
          </a:prstGeom>
          <a:noFill/>
        </p:spPr>
        <p:txBody>
          <a:bodyPr wrap="square" lIns="27432" rIns="27432">
            <a:spAutoFit/>
          </a:bodyPr>
          <a:lstStyle/>
          <a:p>
            <a:pPr algn="l">
              <a:defRPr sz="819" b="0">
                <a:solidFill>
                  <a:srgbClr val="232C34"/>
                </a:solidFill>
              </a:defRPr>
            </a:pPr>
            <a:r>
              <a:t>Pente du segment ST au pic d’effort</a:t>
            </a:r>
          </a:p>
        </p:txBody>
      </p:sp>
      <p:sp>
        <p:nvSpPr>
          <p:cNvPr id="76" name="Rectangle 75"/>
          <p:cNvSpPr/>
          <p:nvPr/>
        </p:nvSpPr>
        <p:spPr>
          <a:xfrm>
            <a:off x="8439912" y="4709160"/>
            <a:ext cx="333756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8476488" y="4791456"/>
            <a:ext cx="3264408" cy="201168"/>
          </a:xfrm>
          <a:prstGeom prst="rect">
            <a:avLst/>
          </a:prstGeom>
          <a:noFill/>
        </p:spPr>
        <p:txBody>
          <a:bodyPr wrap="square" lIns="27432" rIns="27432">
            <a:spAutoFit/>
          </a:bodyPr>
          <a:lstStyle/>
          <a:p>
            <a:pPr algn="l">
              <a:defRPr sz="819" b="0">
                <a:solidFill>
                  <a:srgbClr val="232C34"/>
                </a:solidFill>
              </a:defRPr>
            </a:pPr>
            <a:r>
              <a:t>Catégorielle ordinale</a:t>
            </a:r>
          </a:p>
        </p:txBody>
      </p:sp>
      <p:sp>
        <p:nvSpPr>
          <p:cNvPr id="78" name="Rectangle 77"/>
          <p:cNvSpPr/>
          <p:nvPr/>
        </p:nvSpPr>
        <p:spPr>
          <a:xfrm>
            <a:off x="438912" y="5047488"/>
            <a:ext cx="128016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475488" y="5129783"/>
            <a:ext cx="1207007" cy="201168"/>
          </a:xfrm>
          <a:prstGeom prst="rect">
            <a:avLst/>
          </a:prstGeom>
          <a:noFill/>
        </p:spPr>
        <p:txBody>
          <a:bodyPr wrap="square" lIns="27432" rIns="27432">
            <a:spAutoFit/>
          </a:bodyPr>
          <a:lstStyle/>
          <a:p>
            <a:pPr algn="ctr">
              <a:defRPr sz="819" b="1">
                <a:solidFill>
                  <a:srgbClr val="232C34"/>
                </a:solidFill>
              </a:defRPr>
            </a:pPr>
            <a:r>
              <a:t>ca</a:t>
            </a:r>
          </a:p>
        </p:txBody>
      </p:sp>
      <p:sp>
        <p:nvSpPr>
          <p:cNvPr id="80" name="Rectangle 79"/>
          <p:cNvSpPr/>
          <p:nvPr/>
        </p:nvSpPr>
        <p:spPr>
          <a:xfrm>
            <a:off x="1719072" y="5047488"/>
            <a:ext cx="672084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755648" y="5129783"/>
            <a:ext cx="6647688" cy="201168"/>
          </a:xfrm>
          <a:prstGeom prst="rect">
            <a:avLst/>
          </a:prstGeom>
          <a:noFill/>
        </p:spPr>
        <p:txBody>
          <a:bodyPr wrap="square" lIns="27432" rIns="27432">
            <a:spAutoFit/>
          </a:bodyPr>
          <a:lstStyle/>
          <a:p>
            <a:pPr algn="l">
              <a:defRPr sz="819" b="0">
                <a:solidFill>
                  <a:srgbClr val="232C34"/>
                </a:solidFill>
              </a:defRPr>
            </a:pPr>
            <a:r>
              <a:t>Nombre de vaisseaux principaux visualisés</a:t>
            </a:r>
          </a:p>
        </p:txBody>
      </p:sp>
      <p:sp>
        <p:nvSpPr>
          <p:cNvPr id="82" name="Rectangle 81"/>
          <p:cNvSpPr/>
          <p:nvPr/>
        </p:nvSpPr>
        <p:spPr>
          <a:xfrm>
            <a:off x="8439912" y="5047488"/>
            <a:ext cx="333756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8476488" y="5129783"/>
            <a:ext cx="3264408" cy="201168"/>
          </a:xfrm>
          <a:prstGeom prst="rect">
            <a:avLst/>
          </a:prstGeom>
          <a:noFill/>
        </p:spPr>
        <p:txBody>
          <a:bodyPr wrap="square" lIns="27432" rIns="27432">
            <a:spAutoFit/>
          </a:bodyPr>
          <a:lstStyle/>
          <a:p>
            <a:pPr algn="l">
              <a:defRPr sz="819" b="0">
                <a:solidFill>
                  <a:srgbClr val="232C34"/>
                </a:solidFill>
              </a:defRPr>
            </a:pPr>
            <a:r>
              <a:t>Quantitative discrète</a:t>
            </a:r>
          </a:p>
        </p:txBody>
      </p:sp>
      <p:sp>
        <p:nvSpPr>
          <p:cNvPr id="84" name="Rectangle 83"/>
          <p:cNvSpPr/>
          <p:nvPr/>
        </p:nvSpPr>
        <p:spPr>
          <a:xfrm>
            <a:off x="438912" y="5385816"/>
            <a:ext cx="128016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475488" y="5468112"/>
            <a:ext cx="1207007" cy="201168"/>
          </a:xfrm>
          <a:prstGeom prst="rect">
            <a:avLst/>
          </a:prstGeom>
          <a:noFill/>
        </p:spPr>
        <p:txBody>
          <a:bodyPr wrap="square" lIns="27432" rIns="27432">
            <a:spAutoFit/>
          </a:bodyPr>
          <a:lstStyle/>
          <a:p>
            <a:pPr algn="ctr">
              <a:defRPr sz="819" b="1">
                <a:solidFill>
                  <a:srgbClr val="232C34"/>
                </a:solidFill>
              </a:defRPr>
            </a:pPr>
            <a:r>
              <a:t>thal</a:t>
            </a:r>
          </a:p>
        </p:txBody>
      </p:sp>
      <p:sp>
        <p:nvSpPr>
          <p:cNvPr id="86" name="Rectangle 85"/>
          <p:cNvSpPr/>
          <p:nvPr/>
        </p:nvSpPr>
        <p:spPr>
          <a:xfrm>
            <a:off x="1719072" y="5385816"/>
            <a:ext cx="672084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755648" y="5468112"/>
            <a:ext cx="6647688" cy="201168"/>
          </a:xfrm>
          <a:prstGeom prst="rect">
            <a:avLst/>
          </a:prstGeom>
          <a:noFill/>
        </p:spPr>
        <p:txBody>
          <a:bodyPr wrap="square" lIns="27432" rIns="27432">
            <a:spAutoFit/>
          </a:bodyPr>
          <a:lstStyle/>
          <a:p>
            <a:pPr algn="l">
              <a:defRPr sz="819" b="0">
                <a:solidFill>
                  <a:srgbClr val="232C34"/>
                </a:solidFill>
              </a:defRPr>
            </a:pPr>
            <a:r>
              <a:t>Résultat du test au thallium</a:t>
            </a:r>
          </a:p>
        </p:txBody>
      </p:sp>
      <p:sp>
        <p:nvSpPr>
          <p:cNvPr id="88" name="Rectangle 87"/>
          <p:cNvSpPr/>
          <p:nvPr/>
        </p:nvSpPr>
        <p:spPr>
          <a:xfrm>
            <a:off x="8439912" y="5385816"/>
            <a:ext cx="3337560" cy="3200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8476488" y="5468112"/>
            <a:ext cx="3264408" cy="201168"/>
          </a:xfrm>
          <a:prstGeom prst="rect">
            <a:avLst/>
          </a:prstGeom>
          <a:noFill/>
        </p:spPr>
        <p:txBody>
          <a:bodyPr wrap="square" lIns="27432" rIns="27432">
            <a:spAutoFit/>
          </a:bodyPr>
          <a:lstStyle/>
          <a:p>
            <a:pPr algn="l">
              <a:defRPr sz="819" b="0">
                <a:solidFill>
                  <a:srgbClr val="232C34"/>
                </a:solidFill>
              </a:defRPr>
            </a:pPr>
            <a:r>
              <a:t>Catégorielle</a:t>
            </a:r>
          </a:p>
        </p:txBody>
      </p:sp>
      <p:sp>
        <p:nvSpPr>
          <p:cNvPr id="90" name="Rectangle 89"/>
          <p:cNvSpPr/>
          <p:nvPr/>
        </p:nvSpPr>
        <p:spPr>
          <a:xfrm>
            <a:off x="438912" y="5724144"/>
            <a:ext cx="128016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475488" y="5806440"/>
            <a:ext cx="1207007" cy="201168"/>
          </a:xfrm>
          <a:prstGeom prst="rect">
            <a:avLst/>
          </a:prstGeom>
          <a:noFill/>
        </p:spPr>
        <p:txBody>
          <a:bodyPr wrap="square" lIns="27432" rIns="27432">
            <a:spAutoFit/>
          </a:bodyPr>
          <a:lstStyle/>
          <a:p>
            <a:pPr algn="ctr">
              <a:defRPr sz="819" b="1">
                <a:solidFill>
                  <a:srgbClr val="232C34"/>
                </a:solidFill>
              </a:defRPr>
            </a:pPr>
            <a:r>
              <a:t>target</a:t>
            </a:r>
          </a:p>
        </p:txBody>
      </p:sp>
      <p:sp>
        <p:nvSpPr>
          <p:cNvPr id="92" name="Rectangle 91"/>
          <p:cNvSpPr/>
          <p:nvPr/>
        </p:nvSpPr>
        <p:spPr>
          <a:xfrm>
            <a:off x="1719072" y="5724144"/>
            <a:ext cx="672084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1755648" y="5806440"/>
            <a:ext cx="6647688" cy="201168"/>
          </a:xfrm>
          <a:prstGeom prst="rect">
            <a:avLst/>
          </a:prstGeom>
          <a:noFill/>
        </p:spPr>
        <p:txBody>
          <a:bodyPr wrap="square" lIns="27432" rIns="27432">
            <a:spAutoFit/>
          </a:bodyPr>
          <a:lstStyle/>
          <a:p>
            <a:pPr algn="l">
              <a:defRPr sz="819" b="0">
                <a:solidFill>
                  <a:srgbClr val="232C34"/>
                </a:solidFill>
              </a:defRPr>
            </a:pPr>
            <a:r>
              <a:t>Diagnostic / présence de maladie cardiaque</a:t>
            </a:r>
          </a:p>
        </p:txBody>
      </p:sp>
      <p:sp>
        <p:nvSpPr>
          <p:cNvPr id="94" name="Rectangle 93"/>
          <p:cNvSpPr/>
          <p:nvPr/>
        </p:nvSpPr>
        <p:spPr>
          <a:xfrm>
            <a:off x="8439912" y="5724144"/>
            <a:ext cx="3337560" cy="3200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8476488" y="5806440"/>
            <a:ext cx="3264408" cy="201168"/>
          </a:xfrm>
          <a:prstGeom prst="rect">
            <a:avLst/>
          </a:prstGeom>
          <a:noFill/>
        </p:spPr>
        <p:txBody>
          <a:bodyPr wrap="square" lIns="27432" rIns="27432">
            <a:spAutoFit/>
          </a:bodyPr>
          <a:lstStyle/>
          <a:p>
            <a:pPr algn="l">
              <a:defRPr sz="819" b="0">
                <a:solidFill>
                  <a:srgbClr val="232C34"/>
                </a:solidFill>
              </a:defRPr>
            </a:pPr>
            <a:r>
              <a:t>Catégorielle binaire</a:t>
            </a:r>
          </a:p>
        </p:txBody>
      </p:sp>
      <p:sp>
        <p:nvSpPr>
          <p:cNvPr id="96" name="TextBox 95"/>
          <p:cNvSpPr txBox="1"/>
          <p:nvPr/>
        </p:nvSpPr>
        <p:spPr>
          <a:xfrm>
            <a:off x="566928" y="6364224"/>
            <a:ext cx="10698480" cy="155448"/>
          </a:xfrm>
          <a:prstGeom prst="rect">
            <a:avLst/>
          </a:prstGeom>
          <a:noFill/>
        </p:spPr>
        <p:txBody>
          <a:bodyPr wrap="square" lIns="27432" rIns="27432">
            <a:spAutoFit/>
          </a:bodyPr>
          <a:lstStyle/>
          <a:p>
            <a:pPr algn="l">
              <a:defRPr sz="690" b="0">
                <a:solidFill>
                  <a:srgbClr val="64707B"/>
                </a:solidFill>
              </a:defRPr>
            </a:pPr>
            <a:r>
              <a:t>Significations générales documentées pour Heart Disease ; nature statistique retenue pour l’inspection.</a:t>
            </a:r>
          </a:p>
        </p:txBody>
      </p:sp>
      <p:sp>
        <p:nvSpPr>
          <p:cNvPr id="97" name="TextBox 96"/>
          <p:cNvSpPr txBox="1"/>
          <p:nvPr/>
        </p:nvSpPr>
        <p:spPr>
          <a:xfrm>
            <a:off x="566928" y="6601968"/>
            <a:ext cx="7772400" cy="128016"/>
          </a:xfrm>
          <a:prstGeom prst="rect">
            <a:avLst/>
          </a:prstGeom>
          <a:noFill/>
        </p:spPr>
        <p:txBody>
          <a:bodyPr wrap="square" lIns="27432" rIns="27432">
            <a:spAutoFit/>
          </a:bodyPr>
          <a:lstStyle/>
          <a:p>
            <a:pPr algn="l">
              <a:defRPr sz="680" b="0">
                <a:solidFill>
                  <a:srgbClr val="64707B"/>
                </a:solidFill>
              </a:defRPr>
            </a:pPr>
            <a:r>
              <a:t>Joseph MUSENGA • Master 1 A.I • Dakar Institute of Technology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0B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10607040" cy="329184"/>
          </a:xfrm>
          <a:prstGeom prst="rect">
            <a:avLst/>
          </a:prstGeom>
          <a:noFill/>
        </p:spPr>
        <p:txBody>
          <a:bodyPr wrap="square" lIns="27432" rIns="27432">
            <a:spAutoFit/>
          </a:bodyPr>
          <a:lstStyle/>
          <a:p>
            <a:pPr algn="l">
              <a:defRPr sz="2100" b="1">
                <a:solidFill>
                  <a:srgbClr val="FFFFFF"/>
                </a:solidFill>
              </a:defRPr>
            </a:pPr>
            <a:r>
              <a:t>Q1 — Modalités observées des variables catégorielles</a:t>
            </a:r>
          </a:p>
        </p:txBody>
      </p:sp>
      <p:sp>
        <p:nvSpPr>
          <p:cNvPr id="5" name="TextBox 4"/>
          <p:cNvSpPr txBox="1"/>
          <p:nvPr/>
        </p:nvSpPr>
        <p:spPr>
          <a:xfrm>
            <a:off x="11109960" y="164592"/>
            <a:ext cx="457200" cy="182880"/>
          </a:xfrm>
          <a:prstGeom prst="rect">
            <a:avLst/>
          </a:prstGeom>
          <a:noFill/>
        </p:spPr>
        <p:txBody>
          <a:bodyPr wrap="square" lIns="27432" rIns="27432">
            <a:spAutoFit/>
          </a:bodyPr>
          <a:lstStyle/>
          <a:p>
            <a:pPr algn="r">
              <a:defRPr sz="900" b="1">
                <a:solidFill>
                  <a:srgbClr val="A3C1DB"/>
                </a:solidFill>
              </a:defRPr>
            </a:pPr>
            <a:r>
              <a:t>05</a:t>
            </a:r>
          </a:p>
        </p:txBody>
      </p:sp>
      <p:sp>
        <p:nvSpPr>
          <p:cNvPr id="6" name="Rounded Rectangle 5"/>
          <p:cNvSpPr/>
          <p:nvPr/>
        </p:nvSpPr>
        <p:spPr>
          <a:xfrm>
            <a:off x="621792" y="1170432"/>
            <a:ext cx="3401568" cy="1060704"/>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21792" y="1170432"/>
            <a:ext cx="64008" cy="1060704"/>
          </a:xfrm>
          <a:prstGeom prst="rect">
            <a:avLst/>
          </a:prstGeom>
          <a:solidFill>
            <a:srgbClr val="21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316736"/>
            <a:ext cx="3017520" cy="256032"/>
          </a:xfrm>
          <a:prstGeom prst="rect">
            <a:avLst/>
          </a:prstGeom>
          <a:noFill/>
        </p:spPr>
        <p:txBody>
          <a:bodyPr wrap="square" lIns="27432" rIns="27432">
            <a:spAutoFit/>
          </a:bodyPr>
          <a:lstStyle/>
          <a:p>
            <a:pPr algn="l">
              <a:defRPr sz="1200" b="1">
                <a:solidFill>
                  <a:srgbClr val="215F9A"/>
                </a:solidFill>
              </a:defRPr>
            </a:pPr>
            <a:r>
              <a:t>sex</a:t>
            </a:r>
          </a:p>
        </p:txBody>
      </p:sp>
      <p:sp>
        <p:nvSpPr>
          <p:cNvPr id="9" name="TextBox 8"/>
          <p:cNvSpPr txBox="1"/>
          <p:nvPr/>
        </p:nvSpPr>
        <p:spPr>
          <a:xfrm>
            <a:off x="822960" y="1682496"/>
            <a:ext cx="3017520" cy="438911"/>
          </a:xfrm>
          <a:prstGeom prst="rect">
            <a:avLst/>
          </a:prstGeom>
          <a:noFill/>
        </p:spPr>
        <p:txBody>
          <a:bodyPr wrap="square" lIns="27432" rIns="27432">
            <a:spAutoFit/>
          </a:bodyPr>
          <a:lstStyle/>
          <a:p>
            <a:pPr algn="l">
              <a:defRPr sz="1000" b="0">
                <a:solidFill>
                  <a:srgbClr val="232C34"/>
                </a:solidFill>
              </a:defRPr>
            </a:pPr>
            <a:r>
              <a:t>Modalités : 0, 1</a:t>
            </a:r>
            <a:br/>
            <a:r>
              <a:t>Nombre : 2</a:t>
            </a:r>
          </a:p>
        </p:txBody>
      </p:sp>
      <p:sp>
        <p:nvSpPr>
          <p:cNvPr id="10" name="Rounded Rectangle 9"/>
          <p:cNvSpPr/>
          <p:nvPr/>
        </p:nvSpPr>
        <p:spPr>
          <a:xfrm>
            <a:off x="4389120" y="1170432"/>
            <a:ext cx="3401568" cy="1060704"/>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170432"/>
            <a:ext cx="64008" cy="1060704"/>
          </a:xfrm>
          <a:prstGeom prst="rect">
            <a:avLst/>
          </a:prstGeom>
          <a:solidFill>
            <a:srgbClr val="14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316736"/>
            <a:ext cx="3017520" cy="256032"/>
          </a:xfrm>
          <a:prstGeom prst="rect">
            <a:avLst/>
          </a:prstGeom>
          <a:noFill/>
        </p:spPr>
        <p:txBody>
          <a:bodyPr wrap="square" lIns="27432" rIns="27432">
            <a:spAutoFit/>
          </a:bodyPr>
          <a:lstStyle/>
          <a:p>
            <a:pPr algn="l">
              <a:defRPr sz="1200" b="1">
                <a:solidFill>
                  <a:srgbClr val="14807C"/>
                </a:solidFill>
              </a:defRPr>
            </a:pPr>
            <a:r>
              <a:t>fbs</a:t>
            </a:r>
          </a:p>
        </p:txBody>
      </p:sp>
      <p:sp>
        <p:nvSpPr>
          <p:cNvPr id="13" name="TextBox 12"/>
          <p:cNvSpPr txBox="1"/>
          <p:nvPr/>
        </p:nvSpPr>
        <p:spPr>
          <a:xfrm>
            <a:off x="4590288" y="1682496"/>
            <a:ext cx="3017520" cy="438911"/>
          </a:xfrm>
          <a:prstGeom prst="rect">
            <a:avLst/>
          </a:prstGeom>
          <a:noFill/>
        </p:spPr>
        <p:txBody>
          <a:bodyPr wrap="square" lIns="27432" rIns="27432">
            <a:spAutoFit/>
          </a:bodyPr>
          <a:lstStyle/>
          <a:p>
            <a:pPr algn="l">
              <a:defRPr sz="1000" b="0">
                <a:solidFill>
                  <a:srgbClr val="232C34"/>
                </a:solidFill>
              </a:defRPr>
            </a:pPr>
            <a:r>
              <a:t>Modalités : 0, 1</a:t>
            </a:r>
            <a:br/>
            <a:r>
              <a:t>Nombre : 2</a:t>
            </a:r>
          </a:p>
        </p:txBody>
      </p:sp>
      <p:sp>
        <p:nvSpPr>
          <p:cNvPr id="14" name="Rounded Rectangle 13"/>
          <p:cNvSpPr/>
          <p:nvPr/>
        </p:nvSpPr>
        <p:spPr>
          <a:xfrm>
            <a:off x="8156448" y="1170432"/>
            <a:ext cx="3401568" cy="1060704"/>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56448" y="1170432"/>
            <a:ext cx="64008" cy="1060704"/>
          </a:xfrm>
          <a:prstGeom prst="rect">
            <a:avLst/>
          </a:prstGeom>
          <a:solidFill>
            <a:srgbClr val="DC8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57616" y="1316736"/>
            <a:ext cx="3017520" cy="256032"/>
          </a:xfrm>
          <a:prstGeom prst="rect">
            <a:avLst/>
          </a:prstGeom>
          <a:noFill/>
        </p:spPr>
        <p:txBody>
          <a:bodyPr wrap="square" lIns="27432" rIns="27432">
            <a:spAutoFit/>
          </a:bodyPr>
          <a:lstStyle/>
          <a:p>
            <a:pPr algn="l">
              <a:defRPr sz="1200" b="1">
                <a:solidFill>
                  <a:srgbClr val="DC892A"/>
                </a:solidFill>
              </a:defRPr>
            </a:pPr>
            <a:r>
              <a:t>exang</a:t>
            </a:r>
          </a:p>
        </p:txBody>
      </p:sp>
      <p:sp>
        <p:nvSpPr>
          <p:cNvPr id="17" name="TextBox 16"/>
          <p:cNvSpPr txBox="1"/>
          <p:nvPr/>
        </p:nvSpPr>
        <p:spPr>
          <a:xfrm>
            <a:off x="8357616" y="1682496"/>
            <a:ext cx="3017520" cy="438911"/>
          </a:xfrm>
          <a:prstGeom prst="rect">
            <a:avLst/>
          </a:prstGeom>
          <a:noFill/>
        </p:spPr>
        <p:txBody>
          <a:bodyPr wrap="square" lIns="27432" rIns="27432">
            <a:spAutoFit/>
          </a:bodyPr>
          <a:lstStyle/>
          <a:p>
            <a:pPr algn="l">
              <a:defRPr sz="1000" b="0">
                <a:solidFill>
                  <a:srgbClr val="232C34"/>
                </a:solidFill>
              </a:defRPr>
            </a:pPr>
            <a:r>
              <a:t>Modalités : 0, 1</a:t>
            </a:r>
            <a:br/>
            <a:r>
              <a:t>Nombre : 2</a:t>
            </a:r>
          </a:p>
        </p:txBody>
      </p:sp>
      <p:sp>
        <p:nvSpPr>
          <p:cNvPr id="18" name="Rounded Rectangle 17"/>
          <p:cNvSpPr/>
          <p:nvPr/>
        </p:nvSpPr>
        <p:spPr>
          <a:xfrm>
            <a:off x="621792" y="2523744"/>
            <a:ext cx="3401568" cy="1060704"/>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1792" y="2523744"/>
            <a:ext cx="64008" cy="1060704"/>
          </a:xfrm>
          <a:prstGeom prst="rect">
            <a:avLst/>
          </a:prstGeom>
          <a:solidFill>
            <a:srgbClr val="21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2670048"/>
            <a:ext cx="3017520" cy="256032"/>
          </a:xfrm>
          <a:prstGeom prst="rect">
            <a:avLst/>
          </a:prstGeom>
          <a:noFill/>
        </p:spPr>
        <p:txBody>
          <a:bodyPr wrap="square" lIns="27432" rIns="27432">
            <a:spAutoFit/>
          </a:bodyPr>
          <a:lstStyle/>
          <a:p>
            <a:pPr algn="l">
              <a:defRPr sz="1200" b="1">
                <a:solidFill>
                  <a:srgbClr val="215F9A"/>
                </a:solidFill>
              </a:defRPr>
            </a:pPr>
            <a:r>
              <a:t>target</a:t>
            </a:r>
          </a:p>
        </p:txBody>
      </p:sp>
      <p:sp>
        <p:nvSpPr>
          <p:cNvPr id="21" name="TextBox 20"/>
          <p:cNvSpPr txBox="1"/>
          <p:nvPr/>
        </p:nvSpPr>
        <p:spPr>
          <a:xfrm>
            <a:off x="822960" y="3035808"/>
            <a:ext cx="3017520" cy="438911"/>
          </a:xfrm>
          <a:prstGeom prst="rect">
            <a:avLst/>
          </a:prstGeom>
          <a:noFill/>
        </p:spPr>
        <p:txBody>
          <a:bodyPr wrap="square" lIns="27432" rIns="27432">
            <a:spAutoFit/>
          </a:bodyPr>
          <a:lstStyle/>
          <a:p>
            <a:pPr algn="l">
              <a:defRPr sz="1000" b="0">
                <a:solidFill>
                  <a:srgbClr val="232C34"/>
                </a:solidFill>
              </a:defRPr>
            </a:pPr>
            <a:r>
              <a:t>Modalités : 0, 1</a:t>
            </a:r>
            <a:br/>
            <a:r>
              <a:t>Nombre : 2</a:t>
            </a:r>
          </a:p>
        </p:txBody>
      </p:sp>
      <p:sp>
        <p:nvSpPr>
          <p:cNvPr id="22" name="Rounded Rectangle 21"/>
          <p:cNvSpPr/>
          <p:nvPr/>
        </p:nvSpPr>
        <p:spPr>
          <a:xfrm>
            <a:off x="4389120" y="2523744"/>
            <a:ext cx="3401568" cy="1060704"/>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89120" y="2523744"/>
            <a:ext cx="64008" cy="1060704"/>
          </a:xfrm>
          <a:prstGeom prst="rect">
            <a:avLst/>
          </a:prstGeom>
          <a:solidFill>
            <a:srgbClr val="14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90288" y="2670048"/>
            <a:ext cx="3017520" cy="256032"/>
          </a:xfrm>
          <a:prstGeom prst="rect">
            <a:avLst/>
          </a:prstGeom>
          <a:noFill/>
        </p:spPr>
        <p:txBody>
          <a:bodyPr wrap="square" lIns="27432" rIns="27432">
            <a:spAutoFit/>
          </a:bodyPr>
          <a:lstStyle/>
          <a:p>
            <a:pPr algn="l">
              <a:defRPr sz="1200" b="1">
                <a:solidFill>
                  <a:srgbClr val="14807C"/>
                </a:solidFill>
              </a:defRPr>
            </a:pPr>
            <a:r>
              <a:t>restecg</a:t>
            </a:r>
          </a:p>
        </p:txBody>
      </p:sp>
      <p:sp>
        <p:nvSpPr>
          <p:cNvPr id="25" name="TextBox 24"/>
          <p:cNvSpPr txBox="1"/>
          <p:nvPr/>
        </p:nvSpPr>
        <p:spPr>
          <a:xfrm>
            <a:off x="4590288" y="3035808"/>
            <a:ext cx="3017520" cy="438911"/>
          </a:xfrm>
          <a:prstGeom prst="rect">
            <a:avLst/>
          </a:prstGeom>
          <a:noFill/>
        </p:spPr>
        <p:txBody>
          <a:bodyPr wrap="square" lIns="27432" rIns="27432">
            <a:spAutoFit/>
          </a:bodyPr>
          <a:lstStyle/>
          <a:p>
            <a:pPr algn="l">
              <a:defRPr sz="1000" b="0">
                <a:solidFill>
                  <a:srgbClr val="232C34"/>
                </a:solidFill>
              </a:defRPr>
            </a:pPr>
            <a:r>
              <a:t>Modalités : 0, 1, 2</a:t>
            </a:r>
            <a:br/>
            <a:r>
              <a:t>Nombre : 3</a:t>
            </a:r>
          </a:p>
        </p:txBody>
      </p:sp>
      <p:sp>
        <p:nvSpPr>
          <p:cNvPr id="26" name="Rounded Rectangle 25"/>
          <p:cNvSpPr/>
          <p:nvPr/>
        </p:nvSpPr>
        <p:spPr>
          <a:xfrm>
            <a:off x="8156448" y="2523744"/>
            <a:ext cx="3401568" cy="1060704"/>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156448" y="2523744"/>
            <a:ext cx="64008" cy="1060704"/>
          </a:xfrm>
          <a:prstGeom prst="rect">
            <a:avLst/>
          </a:prstGeom>
          <a:solidFill>
            <a:srgbClr val="DC8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57616" y="2670048"/>
            <a:ext cx="3017520" cy="256032"/>
          </a:xfrm>
          <a:prstGeom prst="rect">
            <a:avLst/>
          </a:prstGeom>
          <a:noFill/>
        </p:spPr>
        <p:txBody>
          <a:bodyPr wrap="square" lIns="27432" rIns="27432">
            <a:spAutoFit/>
          </a:bodyPr>
          <a:lstStyle/>
          <a:p>
            <a:pPr algn="l">
              <a:defRPr sz="1200" b="1">
                <a:solidFill>
                  <a:srgbClr val="DC892A"/>
                </a:solidFill>
              </a:defRPr>
            </a:pPr>
            <a:r>
              <a:t>slope</a:t>
            </a:r>
          </a:p>
        </p:txBody>
      </p:sp>
      <p:sp>
        <p:nvSpPr>
          <p:cNvPr id="29" name="TextBox 28"/>
          <p:cNvSpPr txBox="1"/>
          <p:nvPr/>
        </p:nvSpPr>
        <p:spPr>
          <a:xfrm>
            <a:off x="8357616" y="3035808"/>
            <a:ext cx="3017520" cy="438911"/>
          </a:xfrm>
          <a:prstGeom prst="rect">
            <a:avLst/>
          </a:prstGeom>
          <a:noFill/>
        </p:spPr>
        <p:txBody>
          <a:bodyPr wrap="square" lIns="27432" rIns="27432">
            <a:spAutoFit/>
          </a:bodyPr>
          <a:lstStyle/>
          <a:p>
            <a:pPr algn="l">
              <a:defRPr sz="1000" b="0">
                <a:solidFill>
                  <a:srgbClr val="232C34"/>
                </a:solidFill>
              </a:defRPr>
            </a:pPr>
            <a:r>
              <a:t>Modalités : 0, 1, 2</a:t>
            </a:r>
            <a:br/>
            <a:r>
              <a:t>Nombre : 3</a:t>
            </a:r>
          </a:p>
        </p:txBody>
      </p:sp>
      <p:sp>
        <p:nvSpPr>
          <p:cNvPr id="30" name="Rounded Rectangle 29"/>
          <p:cNvSpPr/>
          <p:nvPr/>
        </p:nvSpPr>
        <p:spPr>
          <a:xfrm>
            <a:off x="621792" y="3877056"/>
            <a:ext cx="3401568" cy="1060704"/>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1792" y="3877056"/>
            <a:ext cx="64008" cy="1060704"/>
          </a:xfrm>
          <a:prstGeom prst="rect">
            <a:avLst/>
          </a:prstGeom>
          <a:solidFill>
            <a:srgbClr val="21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2960" y="4023360"/>
            <a:ext cx="3017520" cy="256032"/>
          </a:xfrm>
          <a:prstGeom prst="rect">
            <a:avLst/>
          </a:prstGeom>
          <a:noFill/>
        </p:spPr>
        <p:txBody>
          <a:bodyPr wrap="square" lIns="27432" rIns="27432">
            <a:spAutoFit/>
          </a:bodyPr>
          <a:lstStyle/>
          <a:p>
            <a:pPr algn="l">
              <a:defRPr sz="1200" b="1">
                <a:solidFill>
                  <a:srgbClr val="215F9A"/>
                </a:solidFill>
              </a:defRPr>
            </a:pPr>
            <a:r>
              <a:t>thal</a:t>
            </a:r>
          </a:p>
        </p:txBody>
      </p:sp>
      <p:sp>
        <p:nvSpPr>
          <p:cNvPr id="33" name="TextBox 32"/>
          <p:cNvSpPr txBox="1"/>
          <p:nvPr/>
        </p:nvSpPr>
        <p:spPr>
          <a:xfrm>
            <a:off x="822960" y="4389120"/>
            <a:ext cx="3017520" cy="438911"/>
          </a:xfrm>
          <a:prstGeom prst="rect">
            <a:avLst/>
          </a:prstGeom>
          <a:noFill/>
        </p:spPr>
        <p:txBody>
          <a:bodyPr wrap="square" lIns="27432" rIns="27432">
            <a:spAutoFit/>
          </a:bodyPr>
          <a:lstStyle/>
          <a:p>
            <a:pPr algn="l">
              <a:defRPr sz="1000" b="0">
                <a:solidFill>
                  <a:srgbClr val="232C34"/>
                </a:solidFill>
              </a:defRPr>
            </a:pPr>
            <a:r>
              <a:t>Modalités : 1, 2, 3</a:t>
            </a:r>
            <a:br/>
            <a:r>
              <a:t>Nombre : 3</a:t>
            </a:r>
          </a:p>
        </p:txBody>
      </p:sp>
      <p:sp>
        <p:nvSpPr>
          <p:cNvPr id="34" name="Rounded Rectangle 33"/>
          <p:cNvSpPr/>
          <p:nvPr/>
        </p:nvSpPr>
        <p:spPr>
          <a:xfrm>
            <a:off x="4389120" y="3877056"/>
            <a:ext cx="3401568" cy="1060704"/>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389120" y="3877056"/>
            <a:ext cx="64008" cy="1060704"/>
          </a:xfrm>
          <a:prstGeom prst="rect">
            <a:avLst/>
          </a:prstGeom>
          <a:solidFill>
            <a:srgbClr val="14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90288" y="4023360"/>
            <a:ext cx="3017520" cy="256032"/>
          </a:xfrm>
          <a:prstGeom prst="rect">
            <a:avLst/>
          </a:prstGeom>
          <a:noFill/>
        </p:spPr>
        <p:txBody>
          <a:bodyPr wrap="square" lIns="27432" rIns="27432">
            <a:spAutoFit/>
          </a:bodyPr>
          <a:lstStyle/>
          <a:p>
            <a:pPr algn="l">
              <a:defRPr sz="1200" b="1">
                <a:solidFill>
                  <a:srgbClr val="14807C"/>
                </a:solidFill>
              </a:defRPr>
            </a:pPr>
            <a:r>
              <a:t>cp</a:t>
            </a:r>
          </a:p>
        </p:txBody>
      </p:sp>
      <p:sp>
        <p:nvSpPr>
          <p:cNvPr id="37" name="TextBox 36"/>
          <p:cNvSpPr txBox="1"/>
          <p:nvPr/>
        </p:nvSpPr>
        <p:spPr>
          <a:xfrm>
            <a:off x="4590288" y="4389120"/>
            <a:ext cx="3017520" cy="438911"/>
          </a:xfrm>
          <a:prstGeom prst="rect">
            <a:avLst/>
          </a:prstGeom>
          <a:noFill/>
        </p:spPr>
        <p:txBody>
          <a:bodyPr wrap="square" lIns="27432" rIns="27432">
            <a:spAutoFit/>
          </a:bodyPr>
          <a:lstStyle/>
          <a:p>
            <a:pPr algn="l">
              <a:defRPr sz="1000" b="0">
                <a:solidFill>
                  <a:srgbClr val="232C34"/>
                </a:solidFill>
              </a:defRPr>
            </a:pPr>
            <a:r>
              <a:t>Modalités : 0, 1, 2, 3</a:t>
            </a:r>
            <a:br/>
            <a:r>
              <a:t>Nombre : 4</a:t>
            </a:r>
          </a:p>
        </p:txBody>
      </p:sp>
      <p:sp>
        <p:nvSpPr>
          <p:cNvPr id="38" name="Rounded Rectangle 37"/>
          <p:cNvSpPr/>
          <p:nvPr/>
        </p:nvSpPr>
        <p:spPr>
          <a:xfrm>
            <a:off x="8156448" y="3877056"/>
            <a:ext cx="3401568" cy="1060704"/>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156448" y="3877056"/>
            <a:ext cx="64008" cy="1060704"/>
          </a:xfrm>
          <a:prstGeom prst="rect">
            <a:avLst/>
          </a:prstGeom>
          <a:solidFill>
            <a:srgbClr val="DC8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357616" y="4023360"/>
            <a:ext cx="3017520" cy="256032"/>
          </a:xfrm>
          <a:prstGeom prst="rect">
            <a:avLst/>
          </a:prstGeom>
          <a:noFill/>
        </p:spPr>
        <p:txBody>
          <a:bodyPr wrap="square" lIns="27432" rIns="27432">
            <a:spAutoFit/>
          </a:bodyPr>
          <a:lstStyle/>
          <a:p>
            <a:pPr algn="l">
              <a:defRPr sz="1200" b="1">
                <a:solidFill>
                  <a:srgbClr val="DC892A"/>
                </a:solidFill>
              </a:defRPr>
            </a:pPr>
            <a:r>
              <a:t>ca</a:t>
            </a:r>
          </a:p>
        </p:txBody>
      </p:sp>
      <p:sp>
        <p:nvSpPr>
          <p:cNvPr id="41" name="TextBox 40"/>
          <p:cNvSpPr txBox="1"/>
          <p:nvPr/>
        </p:nvSpPr>
        <p:spPr>
          <a:xfrm>
            <a:off x="8357616" y="4389120"/>
            <a:ext cx="3017520" cy="438911"/>
          </a:xfrm>
          <a:prstGeom prst="rect">
            <a:avLst/>
          </a:prstGeom>
          <a:noFill/>
        </p:spPr>
        <p:txBody>
          <a:bodyPr wrap="square" lIns="27432" rIns="27432">
            <a:spAutoFit/>
          </a:bodyPr>
          <a:lstStyle/>
          <a:p>
            <a:pPr algn="l">
              <a:defRPr sz="1000" b="0">
                <a:solidFill>
                  <a:srgbClr val="232C34"/>
                </a:solidFill>
              </a:defRPr>
            </a:pPr>
            <a:r>
              <a:t>Modalités : 0, 1, 2, 3</a:t>
            </a:r>
            <a:br/>
            <a:r>
              <a:t>Nombre : 4 valeurs</a:t>
            </a:r>
          </a:p>
        </p:txBody>
      </p:sp>
      <p:sp>
        <p:nvSpPr>
          <p:cNvPr id="42" name="TextBox 41"/>
          <p:cNvSpPr txBox="1"/>
          <p:nvPr/>
        </p:nvSpPr>
        <p:spPr>
          <a:xfrm>
            <a:off x="713232" y="5394960"/>
            <a:ext cx="10652760" cy="530352"/>
          </a:xfrm>
          <a:prstGeom prst="rect">
            <a:avLst/>
          </a:prstGeom>
          <a:noFill/>
        </p:spPr>
        <p:txBody>
          <a:bodyPr wrap="square" lIns="27432" rIns="27432">
            <a:spAutoFit/>
          </a:bodyPr>
          <a:lstStyle/>
          <a:p>
            <a:pPr algn="ctr">
              <a:defRPr sz="1150" b="0">
                <a:solidFill>
                  <a:srgbClr val="64707B"/>
                </a:solidFill>
              </a:defRPr>
            </a:pPr>
            <a:r>
              <a:t>Point méthodologique : cp, slope et thal sont recodées dans le fichier analysé. Sans dictionnaire de correspondance propre à cette version, leurs codes sont décrits mais ne sont pas surinterprétés.</a:t>
            </a:r>
          </a:p>
        </p:txBody>
      </p:sp>
      <p:sp>
        <p:nvSpPr>
          <p:cNvPr id="43" name="TextBox 42"/>
          <p:cNvSpPr txBox="1"/>
          <p:nvPr/>
        </p:nvSpPr>
        <p:spPr>
          <a:xfrm>
            <a:off x="566928" y="6364224"/>
            <a:ext cx="10698480" cy="155448"/>
          </a:xfrm>
          <a:prstGeom prst="rect">
            <a:avLst/>
          </a:prstGeom>
          <a:noFill/>
        </p:spPr>
        <p:txBody>
          <a:bodyPr wrap="square" lIns="27432" rIns="27432">
            <a:spAutoFit/>
          </a:bodyPr>
          <a:lstStyle/>
          <a:p>
            <a:pPr algn="l">
              <a:defRPr sz="690" b="0">
                <a:solidFill>
                  <a:srgbClr val="64707B"/>
                </a:solidFill>
              </a:defRPr>
            </a:pPr>
            <a:r>
              <a:t>Modalités observées avec unique()/nunique() dans le notebook.</a:t>
            </a:r>
          </a:p>
        </p:txBody>
      </p:sp>
      <p:sp>
        <p:nvSpPr>
          <p:cNvPr id="44" name="TextBox 43"/>
          <p:cNvSpPr txBox="1"/>
          <p:nvPr/>
        </p:nvSpPr>
        <p:spPr>
          <a:xfrm>
            <a:off x="566928" y="6601968"/>
            <a:ext cx="7772400" cy="128016"/>
          </a:xfrm>
          <a:prstGeom prst="rect">
            <a:avLst/>
          </a:prstGeom>
          <a:noFill/>
        </p:spPr>
        <p:txBody>
          <a:bodyPr wrap="square" lIns="27432" rIns="27432">
            <a:spAutoFit/>
          </a:bodyPr>
          <a:lstStyle/>
          <a:p>
            <a:pPr algn="l">
              <a:defRPr sz="680" b="0">
                <a:solidFill>
                  <a:srgbClr val="64707B"/>
                </a:solidFill>
              </a:defRPr>
            </a:pPr>
            <a:r>
              <a:t>Joseph MUSENGA • Master 1 A.I • Dakar Institute of Technology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0B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10607040" cy="329184"/>
          </a:xfrm>
          <a:prstGeom prst="rect">
            <a:avLst/>
          </a:prstGeom>
          <a:noFill/>
        </p:spPr>
        <p:txBody>
          <a:bodyPr wrap="square" lIns="27432" rIns="27432">
            <a:spAutoFit/>
          </a:bodyPr>
          <a:lstStyle/>
          <a:p>
            <a:pPr algn="l">
              <a:defRPr sz="2100" b="1">
                <a:solidFill>
                  <a:srgbClr val="FFFFFF"/>
                </a:solidFill>
              </a:defRPr>
            </a:pPr>
            <a:r>
              <a:t>Q2 — Quel est l’état de ces données ?</a:t>
            </a:r>
          </a:p>
        </p:txBody>
      </p:sp>
      <p:sp>
        <p:nvSpPr>
          <p:cNvPr id="5" name="TextBox 4"/>
          <p:cNvSpPr txBox="1"/>
          <p:nvPr/>
        </p:nvSpPr>
        <p:spPr>
          <a:xfrm>
            <a:off x="11109960" y="164592"/>
            <a:ext cx="457200" cy="182880"/>
          </a:xfrm>
          <a:prstGeom prst="rect">
            <a:avLst/>
          </a:prstGeom>
          <a:noFill/>
        </p:spPr>
        <p:txBody>
          <a:bodyPr wrap="square" lIns="27432" rIns="27432">
            <a:spAutoFit/>
          </a:bodyPr>
          <a:lstStyle/>
          <a:p>
            <a:pPr algn="r">
              <a:defRPr sz="900" b="1">
                <a:solidFill>
                  <a:srgbClr val="A3C1DB"/>
                </a:solidFill>
              </a:defRPr>
            </a:pPr>
            <a:r>
              <a:t>06</a:t>
            </a:r>
          </a:p>
        </p:txBody>
      </p:sp>
      <p:sp>
        <p:nvSpPr>
          <p:cNvPr id="6" name="TextBox 5"/>
          <p:cNvSpPr txBox="1"/>
          <p:nvPr/>
        </p:nvSpPr>
        <p:spPr>
          <a:xfrm>
            <a:off x="530352" y="713232"/>
            <a:ext cx="10789920" cy="201168"/>
          </a:xfrm>
          <a:prstGeom prst="rect">
            <a:avLst/>
          </a:prstGeom>
          <a:noFill/>
        </p:spPr>
        <p:txBody>
          <a:bodyPr wrap="square" lIns="27432" rIns="27432">
            <a:spAutoFit/>
          </a:bodyPr>
          <a:lstStyle/>
          <a:p>
            <a:pPr algn="l">
              <a:defRPr sz="850" b="1">
                <a:solidFill>
                  <a:srgbClr val="215F9A"/>
                </a:solidFill>
              </a:defRPr>
            </a:pPr>
            <a:r>
              <a:t>Diagnostic de qualité structurelle</a:t>
            </a:r>
          </a:p>
        </p:txBody>
      </p:sp>
      <p:sp>
        <p:nvSpPr>
          <p:cNvPr id="7" name="Rounded Rectangle 6"/>
          <p:cNvSpPr/>
          <p:nvPr/>
        </p:nvSpPr>
        <p:spPr>
          <a:xfrm>
            <a:off x="640080" y="1078992"/>
            <a:ext cx="2560320" cy="1051560"/>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1" y="1188719"/>
            <a:ext cx="2231136" cy="164592"/>
          </a:xfrm>
          <a:prstGeom prst="rect">
            <a:avLst/>
          </a:prstGeom>
          <a:noFill/>
        </p:spPr>
        <p:txBody>
          <a:bodyPr wrap="square" lIns="27432" rIns="27432">
            <a:spAutoFit/>
          </a:bodyPr>
          <a:lstStyle/>
          <a:p>
            <a:pPr algn="l">
              <a:defRPr sz="800" b="1">
                <a:solidFill>
                  <a:srgbClr val="64707B"/>
                </a:solidFill>
              </a:defRPr>
            </a:pPr>
            <a:r>
              <a:t>VALEURS MANQUANTES</a:t>
            </a:r>
          </a:p>
        </p:txBody>
      </p:sp>
      <p:sp>
        <p:nvSpPr>
          <p:cNvPr id="9" name="TextBox 8"/>
          <p:cNvSpPr txBox="1"/>
          <p:nvPr/>
        </p:nvSpPr>
        <p:spPr>
          <a:xfrm>
            <a:off x="804671" y="1408176"/>
            <a:ext cx="2231136" cy="347472"/>
          </a:xfrm>
          <a:prstGeom prst="rect">
            <a:avLst/>
          </a:prstGeom>
          <a:noFill/>
        </p:spPr>
        <p:txBody>
          <a:bodyPr wrap="square" lIns="27432" rIns="27432">
            <a:spAutoFit/>
          </a:bodyPr>
          <a:lstStyle/>
          <a:p>
            <a:pPr algn="l">
              <a:defRPr sz="2100" b="1">
                <a:solidFill>
                  <a:srgbClr val="2D8953"/>
                </a:solidFill>
              </a:defRPr>
            </a:pPr>
            <a:r>
              <a:t>0</a:t>
            </a:r>
          </a:p>
        </p:txBody>
      </p:sp>
      <p:sp>
        <p:nvSpPr>
          <p:cNvPr id="10" name="TextBox 9"/>
          <p:cNvSpPr txBox="1"/>
          <p:nvPr/>
        </p:nvSpPr>
        <p:spPr>
          <a:xfrm>
            <a:off x="804671" y="1856231"/>
            <a:ext cx="2231136" cy="155448"/>
          </a:xfrm>
          <a:prstGeom prst="rect">
            <a:avLst/>
          </a:prstGeom>
          <a:noFill/>
        </p:spPr>
        <p:txBody>
          <a:bodyPr wrap="square" lIns="27432" rIns="27432">
            <a:spAutoFit/>
          </a:bodyPr>
          <a:lstStyle/>
          <a:p>
            <a:pPr algn="l">
              <a:defRPr sz="780" b="0">
                <a:solidFill>
                  <a:srgbClr val="232C34"/>
                </a:solidFill>
              </a:defRPr>
            </a:pPr>
            <a:r>
              <a:t>aucune sur 14 variables</a:t>
            </a:r>
          </a:p>
        </p:txBody>
      </p:sp>
      <p:sp>
        <p:nvSpPr>
          <p:cNvPr id="11" name="Rounded Rectangle 10"/>
          <p:cNvSpPr/>
          <p:nvPr/>
        </p:nvSpPr>
        <p:spPr>
          <a:xfrm>
            <a:off x="3383280" y="1078992"/>
            <a:ext cx="2560320" cy="1051560"/>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47872" y="1188719"/>
            <a:ext cx="2231136" cy="164592"/>
          </a:xfrm>
          <a:prstGeom prst="rect">
            <a:avLst/>
          </a:prstGeom>
          <a:noFill/>
        </p:spPr>
        <p:txBody>
          <a:bodyPr wrap="square" lIns="27432" rIns="27432">
            <a:spAutoFit/>
          </a:bodyPr>
          <a:lstStyle/>
          <a:p>
            <a:pPr algn="l">
              <a:defRPr sz="800" b="1">
                <a:solidFill>
                  <a:srgbClr val="64707B"/>
                </a:solidFill>
              </a:defRPr>
            </a:pPr>
            <a:r>
              <a:t>DOUBLONS COMPLETS</a:t>
            </a:r>
          </a:p>
        </p:txBody>
      </p:sp>
      <p:sp>
        <p:nvSpPr>
          <p:cNvPr id="13" name="TextBox 12"/>
          <p:cNvSpPr txBox="1"/>
          <p:nvPr/>
        </p:nvSpPr>
        <p:spPr>
          <a:xfrm>
            <a:off x="3547872" y="1408176"/>
            <a:ext cx="2231136" cy="347472"/>
          </a:xfrm>
          <a:prstGeom prst="rect">
            <a:avLst/>
          </a:prstGeom>
          <a:noFill/>
        </p:spPr>
        <p:txBody>
          <a:bodyPr wrap="square" lIns="27432" rIns="27432">
            <a:spAutoFit/>
          </a:bodyPr>
          <a:lstStyle/>
          <a:p>
            <a:pPr algn="l">
              <a:defRPr sz="2100" b="1">
                <a:solidFill>
                  <a:srgbClr val="2D8953"/>
                </a:solidFill>
              </a:defRPr>
            </a:pPr>
            <a:r>
              <a:t>0</a:t>
            </a:r>
          </a:p>
        </p:txBody>
      </p:sp>
      <p:sp>
        <p:nvSpPr>
          <p:cNvPr id="14" name="TextBox 13"/>
          <p:cNvSpPr txBox="1"/>
          <p:nvPr/>
        </p:nvSpPr>
        <p:spPr>
          <a:xfrm>
            <a:off x="3547872" y="1856231"/>
            <a:ext cx="2231136" cy="155448"/>
          </a:xfrm>
          <a:prstGeom prst="rect">
            <a:avLst/>
          </a:prstGeom>
          <a:noFill/>
        </p:spPr>
        <p:txBody>
          <a:bodyPr wrap="square" lIns="27432" rIns="27432">
            <a:spAutoFit/>
          </a:bodyPr>
          <a:lstStyle/>
          <a:p>
            <a:pPr algn="l">
              <a:defRPr sz="780" b="0">
                <a:solidFill>
                  <a:srgbClr val="232C34"/>
                </a:solidFill>
              </a:defRPr>
            </a:pPr>
            <a:r>
              <a:t>aucune ligne dupliquée</a:t>
            </a:r>
          </a:p>
        </p:txBody>
      </p:sp>
      <p:sp>
        <p:nvSpPr>
          <p:cNvPr id="15" name="Rounded Rectangle 14"/>
          <p:cNvSpPr/>
          <p:nvPr/>
        </p:nvSpPr>
        <p:spPr>
          <a:xfrm>
            <a:off x="6126480" y="1078992"/>
            <a:ext cx="2560320" cy="1051560"/>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91072" y="1188719"/>
            <a:ext cx="2231136" cy="164592"/>
          </a:xfrm>
          <a:prstGeom prst="rect">
            <a:avLst/>
          </a:prstGeom>
          <a:noFill/>
        </p:spPr>
        <p:txBody>
          <a:bodyPr wrap="square" lIns="27432" rIns="27432">
            <a:spAutoFit/>
          </a:bodyPr>
          <a:lstStyle/>
          <a:p>
            <a:pPr algn="l">
              <a:defRPr sz="800" b="1">
                <a:solidFill>
                  <a:srgbClr val="64707B"/>
                </a:solidFill>
              </a:defRPr>
            </a:pPr>
            <a:r>
              <a:t>COMPLÉTUDE</a:t>
            </a:r>
          </a:p>
        </p:txBody>
      </p:sp>
      <p:sp>
        <p:nvSpPr>
          <p:cNvPr id="17" name="TextBox 16"/>
          <p:cNvSpPr txBox="1"/>
          <p:nvPr/>
        </p:nvSpPr>
        <p:spPr>
          <a:xfrm>
            <a:off x="6291072" y="1408176"/>
            <a:ext cx="2231136" cy="347472"/>
          </a:xfrm>
          <a:prstGeom prst="rect">
            <a:avLst/>
          </a:prstGeom>
          <a:noFill/>
        </p:spPr>
        <p:txBody>
          <a:bodyPr wrap="square" lIns="27432" rIns="27432">
            <a:spAutoFit/>
          </a:bodyPr>
          <a:lstStyle/>
          <a:p>
            <a:pPr algn="l">
              <a:defRPr sz="2100" b="1">
                <a:solidFill>
                  <a:srgbClr val="14807C"/>
                </a:solidFill>
              </a:defRPr>
            </a:pPr>
            <a:r>
              <a:t>100 %</a:t>
            </a:r>
          </a:p>
        </p:txBody>
      </p:sp>
      <p:sp>
        <p:nvSpPr>
          <p:cNvPr id="18" name="TextBox 17"/>
          <p:cNvSpPr txBox="1"/>
          <p:nvPr/>
        </p:nvSpPr>
        <p:spPr>
          <a:xfrm>
            <a:off x="6291072" y="1856231"/>
            <a:ext cx="2231136" cy="155448"/>
          </a:xfrm>
          <a:prstGeom prst="rect">
            <a:avLst/>
          </a:prstGeom>
          <a:noFill/>
        </p:spPr>
        <p:txBody>
          <a:bodyPr wrap="square" lIns="27432" rIns="27432">
            <a:spAutoFit/>
          </a:bodyPr>
          <a:lstStyle/>
          <a:p>
            <a:pPr algn="l">
              <a:defRPr sz="780" b="0">
                <a:solidFill>
                  <a:srgbClr val="232C34"/>
                </a:solidFill>
              </a:defRPr>
            </a:pPr>
            <a:r>
              <a:t>303 non-null / colonne</a:t>
            </a:r>
          </a:p>
        </p:txBody>
      </p:sp>
      <p:sp>
        <p:nvSpPr>
          <p:cNvPr id="19" name="Rounded Rectangle 18"/>
          <p:cNvSpPr/>
          <p:nvPr/>
        </p:nvSpPr>
        <p:spPr>
          <a:xfrm>
            <a:off x="8869680" y="1078992"/>
            <a:ext cx="2560320" cy="1051560"/>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34272" y="1188719"/>
            <a:ext cx="2231136" cy="164592"/>
          </a:xfrm>
          <a:prstGeom prst="rect">
            <a:avLst/>
          </a:prstGeom>
          <a:noFill/>
        </p:spPr>
        <p:txBody>
          <a:bodyPr wrap="square" lIns="27432" rIns="27432">
            <a:spAutoFit/>
          </a:bodyPr>
          <a:lstStyle/>
          <a:p>
            <a:pPr algn="l">
              <a:defRPr sz="800" b="1">
                <a:solidFill>
                  <a:srgbClr val="64707B"/>
                </a:solidFill>
              </a:defRPr>
            </a:pPr>
            <a:r>
              <a:t>MÉMOIRE</a:t>
            </a:r>
          </a:p>
        </p:txBody>
      </p:sp>
      <p:sp>
        <p:nvSpPr>
          <p:cNvPr id="21" name="TextBox 20"/>
          <p:cNvSpPr txBox="1"/>
          <p:nvPr/>
        </p:nvSpPr>
        <p:spPr>
          <a:xfrm>
            <a:off x="9034272" y="1408176"/>
            <a:ext cx="2231136" cy="347472"/>
          </a:xfrm>
          <a:prstGeom prst="rect">
            <a:avLst/>
          </a:prstGeom>
          <a:noFill/>
        </p:spPr>
        <p:txBody>
          <a:bodyPr wrap="square" lIns="27432" rIns="27432">
            <a:spAutoFit/>
          </a:bodyPr>
          <a:lstStyle/>
          <a:p>
            <a:pPr algn="l">
              <a:defRPr sz="2100" b="1">
                <a:solidFill>
                  <a:srgbClr val="215F9A"/>
                </a:solidFill>
              </a:defRPr>
            </a:pPr>
            <a:r>
              <a:t>33,3 KB</a:t>
            </a:r>
          </a:p>
        </p:txBody>
      </p:sp>
      <p:sp>
        <p:nvSpPr>
          <p:cNvPr id="22" name="TextBox 21"/>
          <p:cNvSpPr txBox="1"/>
          <p:nvPr/>
        </p:nvSpPr>
        <p:spPr>
          <a:xfrm>
            <a:off x="9034272" y="1856231"/>
            <a:ext cx="2231136" cy="155448"/>
          </a:xfrm>
          <a:prstGeom prst="rect">
            <a:avLst/>
          </a:prstGeom>
          <a:noFill/>
        </p:spPr>
        <p:txBody>
          <a:bodyPr wrap="square" lIns="27432" rIns="27432">
            <a:spAutoFit/>
          </a:bodyPr>
          <a:lstStyle/>
          <a:p>
            <a:pPr algn="l">
              <a:defRPr sz="780" b="0">
                <a:solidFill>
                  <a:srgbClr val="232C34"/>
                </a:solidFill>
              </a:defRPr>
            </a:pPr>
            <a:r>
              <a:t>jeu de données léger</a:t>
            </a:r>
          </a:p>
        </p:txBody>
      </p:sp>
      <p:sp>
        <p:nvSpPr>
          <p:cNvPr id="23" name="TextBox 22"/>
          <p:cNvSpPr txBox="1"/>
          <p:nvPr/>
        </p:nvSpPr>
        <p:spPr>
          <a:xfrm>
            <a:off x="685800" y="2651760"/>
            <a:ext cx="5120640" cy="329184"/>
          </a:xfrm>
          <a:prstGeom prst="rect">
            <a:avLst/>
          </a:prstGeom>
          <a:noFill/>
        </p:spPr>
        <p:txBody>
          <a:bodyPr wrap="square" lIns="27432" rIns="27432">
            <a:spAutoFit/>
          </a:bodyPr>
          <a:lstStyle/>
          <a:p>
            <a:pPr algn="l">
              <a:defRPr sz="1800" b="1">
                <a:solidFill>
                  <a:srgbClr val="0B1F34"/>
                </a:solidFill>
              </a:defRPr>
            </a:pPr>
            <a:r>
              <a:t>Forces constatées</a:t>
            </a:r>
          </a:p>
        </p:txBody>
      </p:sp>
      <p:sp>
        <p:nvSpPr>
          <p:cNvPr id="24" name="Rounded Rectangle 23"/>
          <p:cNvSpPr/>
          <p:nvPr/>
        </p:nvSpPr>
        <p:spPr>
          <a:xfrm>
            <a:off x="685800" y="3127248"/>
            <a:ext cx="5166360" cy="1481328"/>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85800" y="3127248"/>
            <a:ext cx="64008" cy="1481328"/>
          </a:xfrm>
          <a:prstGeom prst="rect">
            <a:avLst/>
          </a:prstGeom>
          <a:solidFill>
            <a:srgbClr val="2D89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86968" y="3273552"/>
            <a:ext cx="4782312" cy="256032"/>
          </a:xfrm>
          <a:prstGeom prst="rect">
            <a:avLst/>
          </a:prstGeom>
          <a:noFill/>
        </p:spPr>
        <p:txBody>
          <a:bodyPr wrap="square" lIns="27432" rIns="27432">
            <a:spAutoFit/>
          </a:bodyPr>
          <a:lstStyle/>
          <a:p>
            <a:pPr algn="l">
              <a:defRPr sz="1100" b="1">
                <a:solidFill>
                  <a:srgbClr val="2D8953"/>
                </a:solidFill>
              </a:defRPr>
            </a:pPr>
            <a:r>
              <a:t>Qualité initiale</a:t>
            </a:r>
          </a:p>
        </p:txBody>
      </p:sp>
      <p:sp>
        <p:nvSpPr>
          <p:cNvPr id="27" name="TextBox 26"/>
          <p:cNvSpPr txBox="1"/>
          <p:nvPr/>
        </p:nvSpPr>
        <p:spPr>
          <a:xfrm>
            <a:off x="886968" y="3639312"/>
            <a:ext cx="4782312" cy="859536"/>
          </a:xfrm>
          <a:prstGeom prst="rect">
            <a:avLst/>
          </a:prstGeom>
          <a:noFill/>
        </p:spPr>
        <p:txBody>
          <a:bodyPr wrap="square" lIns="27432" rIns="27432">
            <a:spAutoFit/>
          </a:bodyPr>
          <a:lstStyle/>
          <a:p>
            <a:pPr algn="l">
              <a:defRPr sz="1100" b="0">
                <a:solidFill>
                  <a:srgbClr val="232C34"/>
                </a:solidFill>
              </a:defRPr>
            </a:pPr>
            <a:r>
              <a:t>• Aucun besoin d’imputation à ce stade</a:t>
            </a:r>
            <a:br/>
            <a:r>
              <a:t>• Aucun besoin de déduplication</a:t>
            </a:r>
            <a:br/>
            <a:r>
              <a:t>• Toutes les variables sont renseignées</a:t>
            </a:r>
          </a:p>
        </p:txBody>
      </p:sp>
      <p:sp>
        <p:nvSpPr>
          <p:cNvPr id="28" name="TextBox 27"/>
          <p:cNvSpPr txBox="1"/>
          <p:nvPr/>
        </p:nvSpPr>
        <p:spPr>
          <a:xfrm>
            <a:off x="6263640" y="2651760"/>
            <a:ext cx="4937760" cy="329184"/>
          </a:xfrm>
          <a:prstGeom prst="rect">
            <a:avLst/>
          </a:prstGeom>
          <a:noFill/>
        </p:spPr>
        <p:txBody>
          <a:bodyPr wrap="square" lIns="27432" rIns="27432">
            <a:spAutoFit/>
          </a:bodyPr>
          <a:lstStyle/>
          <a:p>
            <a:pPr algn="l">
              <a:defRPr sz="1800" b="1">
                <a:solidFill>
                  <a:srgbClr val="0B1F34"/>
                </a:solidFill>
              </a:defRPr>
            </a:pPr>
            <a:r>
              <a:t>Limites de ce diagnostic</a:t>
            </a:r>
          </a:p>
        </p:txBody>
      </p:sp>
      <p:sp>
        <p:nvSpPr>
          <p:cNvPr id="29" name="Rounded Rectangle 28"/>
          <p:cNvSpPr/>
          <p:nvPr/>
        </p:nvSpPr>
        <p:spPr>
          <a:xfrm>
            <a:off x="6263640" y="3127248"/>
            <a:ext cx="5166360" cy="1481328"/>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263640" y="3127248"/>
            <a:ext cx="64008" cy="1481328"/>
          </a:xfrm>
          <a:prstGeom prst="rect">
            <a:avLst/>
          </a:prstGeom>
          <a:solidFill>
            <a:srgbClr val="DC8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64807" y="3273552"/>
            <a:ext cx="4782312" cy="256032"/>
          </a:xfrm>
          <a:prstGeom prst="rect">
            <a:avLst/>
          </a:prstGeom>
          <a:noFill/>
        </p:spPr>
        <p:txBody>
          <a:bodyPr wrap="square" lIns="27432" rIns="27432">
            <a:spAutoFit/>
          </a:bodyPr>
          <a:lstStyle/>
          <a:p>
            <a:pPr algn="l">
              <a:defRPr sz="1100" b="1">
                <a:solidFill>
                  <a:srgbClr val="DC892A"/>
                </a:solidFill>
              </a:defRPr>
            </a:pPr>
            <a:r>
              <a:t>À ne pas confondre</a:t>
            </a:r>
          </a:p>
        </p:txBody>
      </p:sp>
      <p:sp>
        <p:nvSpPr>
          <p:cNvPr id="32" name="TextBox 31"/>
          <p:cNvSpPr txBox="1"/>
          <p:nvPr/>
        </p:nvSpPr>
        <p:spPr>
          <a:xfrm>
            <a:off x="6464807" y="3639312"/>
            <a:ext cx="4782312" cy="859536"/>
          </a:xfrm>
          <a:prstGeom prst="rect">
            <a:avLst/>
          </a:prstGeom>
          <a:noFill/>
        </p:spPr>
        <p:txBody>
          <a:bodyPr wrap="square" lIns="27432" rIns="27432">
            <a:spAutoFit/>
          </a:bodyPr>
          <a:lstStyle/>
          <a:p>
            <a:pPr algn="l">
              <a:defRPr sz="1080" b="0">
                <a:solidFill>
                  <a:srgbClr val="232C34"/>
                </a:solidFill>
              </a:defRPr>
            </a:pPr>
            <a:r>
              <a:t>Une base complète et sans doublon n’est pas automatiquement « propre ». Il reste à examiner plausibilité, codages, distributions et valeurs extrêmes.</a:t>
            </a:r>
          </a:p>
        </p:txBody>
      </p:sp>
      <p:sp>
        <p:nvSpPr>
          <p:cNvPr id="33" name="TextBox 32"/>
          <p:cNvSpPr txBox="1"/>
          <p:nvPr/>
        </p:nvSpPr>
        <p:spPr>
          <a:xfrm>
            <a:off x="731520" y="5074920"/>
            <a:ext cx="10698480" cy="530352"/>
          </a:xfrm>
          <a:prstGeom prst="rect">
            <a:avLst/>
          </a:prstGeom>
          <a:noFill/>
        </p:spPr>
        <p:txBody>
          <a:bodyPr wrap="square" lIns="27432" rIns="27432">
            <a:spAutoFit/>
          </a:bodyPr>
          <a:lstStyle/>
          <a:p>
            <a:pPr algn="ctr">
              <a:defRPr sz="1450" b="1">
                <a:solidFill>
                  <a:srgbClr val="0B1F34"/>
                </a:solidFill>
              </a:defRPr>
            </a:pPr>
            <a:r>
              <a:t>État global : BON sur la complétude et l’unicité ; À APPROFONDIR sur la cohérence statistique et la plausibilité.</a:t>
            </a:r>
          </a:p>
        </p:txBody>
      </p:sp>
      <p:sp>
        <p:nvSpPr>
          <p:cNvPr id="34" name="TextBox 33"/>
          <p:cNvSpPr txBox="1"/>
          <p:nvPr/>
        </p:nvSpPr>
        <p:spPr>
          <a:xfrm>
            <a:off x="566928" y="6364224"/>
            <a:ext cx="10698480" cy="155448"/>
          </a:xfrm>
          <a:prstGeom prst="rect">
            <a:avLst/>
          </a:prstGeom>
          <a:noFill/>
        </p:spPr>
        <p:txBody>
          <a:bodyPr wrap="square" lIns="27432" rIns="27432">
            <a:spAutoFit/>
          </a:bodyPr>
          <a:lstStyle/>
          <a:p>
            <a:pPr algn="l">
              <a:defRPr sz="690" b="0">
                <a:solidFill>
                  <a:srgbClr val="64707B"/>
                </a:solidFill>
              </a:defRPr>
            </a:pPr>
            <a:r>
              <a:t>Contrôles : info(), isna().sum(), duplicated().sum().</a:t>
            </a:r>
          </a:p>
        </p:txBody>
      </p:sp>
      <p:sp>
        <p:nvSpPr>
          <p:cNvPr id="35" name="TextBox 34"/>
          <p:cNvSpPr txBox="1"/>
          <p:nvPr/>
        </p:nvSpPr>
        <p:spPr>
          <a:xfrm>
            <a:off x="566928" y="6601968"/>
            <a:ext cx="7772400" cy="128016"/>
          </a:xfrm>
          <a:prstGeom prst="rect">
            <a:avLst/>
          </a:prstGeom>
          <a:noFill/>
        </p:spPr>
        <p:txBody>
          <a:bodyPr wrap="square" lIns="27432" rIns="27432">
            <a:spAutoFit/>
          </a:bodyPr>
          <a:lstStyle/>
          <a:p>
            <a:pPr algn="l">
              <a:defRPr sz="680" b="0">
                <a:solidFill>
                  <a:srgbClr val="64707B"/>
                </a:solidFill>
              </a:defRPr>
            </a:pPr>
            <a:r>
              <a:t>Joseph MUSENGA • Master 1 A.I • Dakar Institute of Technology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0B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10607040" cy="329184"/>
          </a:xfrm>
          <a:prstGeom prst="rect">
            <a:avLst/>
          </a:prstGeom>
          <a:noFill/>
        </p:spPr>
        <p:txBody>
          <a:bodyPr wrap="square" lIns="27432" rIns="27432">
            <a:spAutoFit/>
          </a:bodyPr>
          <a:lstStyle/>
          <a:p>
            <a:pPr algn="l">
              <a:defRPr sz="2100" b="1">
                <a:solidFill>
                  <a:srgbClr val="FFFFFF"/>
                </a:solidFill>
              </a:defRPr>
            </a:pPr>
            <a:r>
              <a:t>Q2 — État des variables quantitatives</a:t>
            </a:r>
          </a:p>
        </p:txBody>
      </p:sp>
      <p:sp>
        <p:nvSpPr>
          <p:cNvPr id="5" name="TextBox 4"/>
          <p:cNvSpPr txBox="1"/>
          <p:nvPr/>
        </p:nvSpPr>
        <p:spPr>
          <a:xfrm>
            <a:off x="11109960" y="164592"/>
            <a:ext cx="457200" cy="182880"/>
          </a:xfrm>
          <a:prstGeom prst="rect">
            <a:avLst/>
          </a:prstGeom>
          <a:noFill/>
        </p:spPr>
        <p:txBody>
          <a:bodyPr wrap="square" lIns="27432" rIns="27432">
            <a:spAutoFit/>
          </a:bodyPr>
          <a:lstStyle/>
          <a:p>
            <a:pPr algn="r">
              <a:defRPr sz="900" b="1">
                <a:solidFill>
                  <a:srgbClr val="A3C1DB"/>
                </a:solidFill>
              </a:defRPr>
            </a:pPr>
            <a:r>
              <a:t>07</a:t>
            </a:r>
          </a:p>
        </p:txBody>
      </p:sp>
      <p:sp>
        <p:nvSpPr>
          <p:cNvPr id="6" name="Rectangle 5"/>
          <p:cNvSpPr/>
          <p:nvPr/>
        </p:nvSpPr>
        <p:spPr>
          <a:xfrm>
            <a:off x="594360" y="1143000"/>
            <a:ext cx="2011680" cy="548640"/>
          </a:xfrm>
          <a:prstGeom prst="rect">
            <a:avLst/>
          </a:prstGeom>
          <a:solidFill>
            <a:srgbClr val="0B1F3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0936" y="1225296"/>
            <a:ext cx="1938528" cy="429768"/>
          </a:xfrm>
          <a:prstGeom prst="rect">
            <a:avLst/>
          </a:prstGeom>
          <a:noFill/>
        </p:spPr>
        <p:txBody>
          <a:bodyPr wrap="square" lIns="27432" rIns="27432">
            <a:spAutoFit/>
          </a:bodyPr>
          <a:lstStyle/>
          <a:p>
            <a:pPr algn="ctr">
              <a:defRPr sz="1000" b="1">
                <a:solidFill>
                  <a:srgbClr val="FFFFFF"/>
                </a:solidFill>
              </a:defRPr>
            </a:pPr>
            <a:r>
              <a:t>Variable</a:t>
            </a:r>
          </a:p>
        </p:txBody>
      </p:sp>
      <p:sp>
        <p:nvSpPr>
          <p:cNvPr id="8" name="Rectangle 7"/>
          <p:cNvSpPr/>
          <p:nvPr/>
        </p:nvSpPr>
        <p:spPr>
          <a:xfrm>
            <a:off x="2606040" y="1143000"/>
            <a:ext cx="1828800" cy="548640"/>
          </a:xfrm>
          <a:prstGeom prst="rect">
            <a:avLst/>
          </a:prstGeom>
          <a:solidFill>
            <a:srgbClr val="0B1F3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642616" y="1225296"/>
            <a:ext cx="1755648" cy="429768"/>
          </a:xfrm>
          <a:prstGeom prst="rect">
            <a:avLst/>
          </a:prstGeom>
          <a:noFill/>
        </p:spPr>
        <p:txBody>
          <a:bodyPr wrap="square" lIns="27432" rIns="27432">
            <a:spAutoFit/>
          </a:bodyPr>
          <a:lstStyle/>
          <a:p>
            <a:pPr algn="l">
              <a:defRPr sz="1000" b="1">
                <a:solidFill>
                  <a:srgbClr val="FFFFFF"/>
                </a:solidFill>
              </a:defRPr>
            </a:pPr>
            <a:r>
              <a:t>Moyenne</a:t>
            </a:r>
          </a:p>
        </p:txBody>
      </p:sp>
      <p:sp>
        <p:nvSpPr>
          <p:cNvPr id="10" name="Rectangle 9"/>
          <p:cNvSpPr/>
          <p:nvPr/>
        </p:nvSpPr>
        <p:spPr>
          <a:xfrm>
            <a:off x="4434840" y="1143000"/>
            <a:ext cx="1828800" cy="548640"/>
          </a:xfrm>
          <a:prstGeom prst="rect">
            <a:avLst/>
          </a:prstGeom>
          <a:solidFill>
            <a:srgbClr val="0B1F3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71416" y="1225296"/>
            <a:ext cx="1755648" cy="429768"/>
          </a:xfrm>
          <a:prstGeom prst="rect">
            <a:avLst/>
          </a:prstGeom>
          <a:noFill/>
        </p:spPr>
        <p:txBody>
          <a:bodyPr wrap="square" lIns="27432" rIns="27432">
            <a:spAutoFit/>
          </a:bodyPr>
          <a:lstStyle/>
          <a:p>
            <a:pPr algn="l">
              <a:defRPr sz="1000" b="1">
                <a:solidFill>
                  <a:srgbClr val="FFFFFF"/>
                </a:solidFill>
              </a:defRPr>
            </a:pPr>
            <a:r>
              <a:t>Médiane</a:t>
            </a:r>
          </a:p>
        </p:txBody>
      </p:sp>
      <p:sp>
        <p:nvSpPr>
          <p:cNvPr id="12" name="Rectangle 11"/>
          <p:cNvSpPr/>
          <p:nvPr/>
        </p:nvSpPr>
        <p:spPr>
          <a:xfrm>
            <a:off x="6263640" y="1143000"/>
            <a:ext cx="2331720" cy="548640"/>
          </a:xfrm>
          <a:prstGeom prst="rect">
            <a:avLst/>
          </a:prstGeom>
          <a:solidFill>
            <a:srgbClr val="0B1F3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00216" y="1225296"/>
            <a:ext cx="2258568" cy="429768"/>
          </a:xfrm>
          <a:prstGeom prst="rect">
            <a:avLst/>
          </a:prstGeom>
          <a:noFill/>
        </p:spPr>
        <p:txBody>
          <a:bodyPr wrap="square" lIns="27432" rIns="27432">
            <a:spAutoFit/>
          </a:bodyPr>
          <a:lstStyle/>
          <a:p>
            <a:pPr algn="l">
              <a:defRPr sz="1000" b="1">
                <a:solidFill>
                  <a:srgbClr val="FFFFFF"/>
                </a:solidFill>
              </a:defRPr>
            </a:pPr>
            <a:r>
              <a:t>Q1–Q3</a:t>
            </a:r>
          </a:p>
        </p:txBody>
      </p:sp>
      <p:sp>
        <p:nvSpPr>
          <p:cNvPr id="14" name="Rectangle 13"/>
          <p:cNvSpPr/>
          <p:nvPr/>
        </p:nvSpPr>
        <p:spPr>
          <a:xfrm>
            <a:off x="8595360" y="1143000"/>
            <a:ext cx="2331720" cy="548640"/>
          </a:xfrm>
          <a:prstGeom prst="rect">
            <a:avLst/>
          </a:prstGeom>
          <a:solidFill>
            <a:srgbClr val="0B1F3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31936" y="1225296"/>
            <a:ext cx="2258568" cy="429768"/>
          </a:xfrm>
          <a:prstGeom prst="rect">
            <a:avLst/>
          </a:prstGeom>
          <a:noFill/>
        </p:spPr>
        <p:txBody>
          <a:bodyPr wrap="square" lIns="27432" rIns="27432">
            <a:spAutoFit/>
          </a:bodyPr>
          <a:lstStyle/>
          <a:p>
            <a:pPr algn="l">
              <a:defRPr sz="1000" b="1">
                <a:solidFill>
                  <a:srgbClr val="FFFFFF"/>
                </a:solidFill>
              </a:defRPr>
            </a:pPr>
            <a:r>
              <a:t>Min–Max</a:t>
            </a:r>
          </a:p>
        </p:txBody>
      </p:sp>
      <p:sp>
        <p:nvSpPr>
          <p:cNvPr id="16" name="Rectangle 15"/>
          <p:cNvSpPr/>
          <p:nvPr/>
        </p:nvSpPr>
        <p:spPr>
          <a:xfrm>
            <a:off x="594360" y="1709928"/>
            <a:ext cx="2011680" cy="5486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 y="1792224"/>
            <a:ext cx="1938528" cy="429768"/>
          </a:xfrm>
          <a:prstGeom prst="rect">
            <a:avLst/>
          </a:prstGeom>
          <a:noFill/>
        </p:spPr>
        <p:txBody>
          <a:bodyPr wrap="square" lIns="27432" rIns="27432">
            <a:spAutoFit/>
          </a:bodyPr>
          <a:lstStyle/>
          <a:p>
            <a:pPr algn="ctr">
              <a:defRPr sz="1000" b="1">
                <a:solidFill>
                  <a:srgbClr val="232C34"/>
                </a:solidFill>
              </a:defRPr>
            </a:pPr>
            <a:r>
              <a:t>age</a:t>
            </a:r>
          </a:p>
        </p:txBody>
      </p:sp>
      <p:sp>
        <p:nvSpPr>
          <p:cNvPr id="18" name="Rectangle 17"/>
          <p:cNvSpPr/>
          <p:nvPr/>
        </p:nvSpPr>
        <p:spPr>
          <a:xfrm>
            <a:off x="2606040" y="1709928"/>
            <a:ext cx="1828800" cy="5486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642616" y="1792224"/>
            <a:ext cx="1755648" cy="429768"/>
          </a:xfrm>
          <a:prstGeom prst="rect">
            <a:avLst/>
          </a:prstGeom>
          <a:noFill/>
        </p:spPr>
        <p:txBody>
          <a:bodyPr wrap="square" lIns="27432" rIns="27432">
            <a:spAutoFit/>
          </a:bodyPr>
          <a:lstStyle/>
          <a:p>
            <a:pPr algn="l">
              <a:defRPr sz="1000" b="0">
                <a:solidFill>
                  <a:srgbClr val="232C34"/>
                </a:solidFill>
              </a:defRPr>
            </a:pPr>
            <a:r>
              <a:t>54,44</a:t>
            </a:r>
          </a:p>
        </p:txBody>
      </p:sp>
      <p:sp>
        <p:nvSpPr>
          <p:cNvPr id="20" name="Rectangle 19"/>
          <p:cNvSpPr/>
          <p:nvPr/>
        </p:nvSpPr>
        <p:spPr>
          <a:xfrm>
            <a:off x="4434840" y="1709928"/>
            <a:ext cx="1828800" cy="5486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71416" y="1792224"/>
            <a:ext cx="1755648" cy="429768"/>
          </a:xfrm>
          <a:prstGeom prst="rect">
            <a:avLst/>
          </a:prstGeom>
          <a:noFill/>
        </p:spPr>
        <p:txBody>
          <a:bodyPr wrap="square" lIns="27432" rIns="27432">
            <a:spAutoFit/>
          </a:bodyPr>
          <a:lstStyle/>
          <a:p>
            <a:pPr algn="l">
              <a:defRPr sz="1000" b="0">
                <a:solidFill>
                  <a:srgbClr val="232C34"/>
                </a:solidFill>
              </a:defRPr>
            </a:pPr>
            <a:r>
              <a:t>56</a:t>
            </a:r>
          </a:p>
        </p:txBody>
      </p:sp>
      <p:sp>
        <p:nvSpPr>
          <p:cNvPr id="22" name="Rectangle 21"/>
          <p:cNvSpPr/>
          <p:nvPr/>
        </p:nvSpPr>
        <p:spPr>
          <a:xfrm>
            <a:off x="6263640" y="1709928"/>
            <a:ext cx="2331720" cy="5486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00216" y="1792224"/>
            <a:ext cx="2258568" cy="429768"/>
          </a:xfrm>
          <a:prstGeom prst="rect">
            <a:avLst/>
          </a:prstGeom>
          <a:noFill/>
        </p:spPr>
        <p:txBody>
          <a:bodyPr wrap="square" lIns="27432" rIns="27432">
            <a:spAutoFit/>
          </a:bodyPr>
          <a:lstStyle/>
          <a:p>
            <a:pPr algn="l">
              <a:defRPr sz="1000" b="0">
                <a:solidFill>
                  <a:srgbClr val="232C34"/>
                </a:solidFill>
              </a:defRPr>
            </a:pPr>
            <a:r>
              <a:t>48–61</a:t>
            </a:r>
          </a:p>
        </p:txBody>
      </p:sp>
      <p:sp>
        <p:nvSpPr>
          <p:cNvPr id="24" name="Rectangle 23"/>
          <p:cNvSpPr/>
          <p:nvPr/>
        </p:nvSpPr>
        <p:spPr>
          <a:xfrm>
            <a:off x="8595360" y="1709928"/>
            <a:ext cx="2331720" cy="5486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31936" y="1792224"/>
            <a:ext cx="2258568" cy="429768"/>
          </a:xfrm>
          <a:prstGeom prst="rect">
            <a:avLst/>
          </a:prstGeom>
          <a:noFill/>
        </p:spPr>
        <p:txBody>
          <a:bodyPr wrap="square" lIns="27432" rIns="27432">
            <a:spAutoFit/>
          </a:bodyPr>
          <a:lstStyle/>
          <a:p>
            <a:pPr algn="l">
              <a:defRPr sz="1000" b="0">
                <a:solidFill>
                  <a:srgbClr val="232C34"/>
                </a:solidFill>
              </a:defRPr>
            </a:pPr>
            <a:r>
              <a:t>29–77</a:t>
            </a:r>
          </a:p>
        </p:txBody>
      </p:sp>
      <p:sp>
        <p:nvSpPr>
          <p:cNvPr id="26" name="Rectangle 25"/>
          <p:cNvSpPr/>
          <p:nvPr/>
        </p:nvSpPr>
        <p:spPr>
          <a:xfrm>
            <a:off x="594360" y="2276856"/>
            <a:ext cx="2011680" cy="5486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0936" y="2359152"/>
            <a:ext cx="1938528" cy="429768"/>
          </a:xfrm>
          <a:prstGeom prst="rect">
            <a:avLst/>
          </a:prstGeom>
          <a:noFill/>
        </p:spPr>
        <p:txBody>
          <a:bodyPr wrap="square" lIns="27432" rIns="27432">
            <a:spAutoFit/>
          </a:bodyPr>
          <a:lstStyle/>
          <a:p>
            <a:pPr algn="ctr">
              <a:defRPr sz="1000" b="1">
                <a:solidFill>
                  <a:srgbClr val="232C34"/>
                </a:solidFill>
              </a:defRPr>
            </a:pPr>
            <a:r>
              <a:t>trestbps</a:t>
            </a:r>
          </a:p>
        </p:txBody>
      </p:sp>
      <p:sp>
        <p:nvSpPr>
          <p:cNvPr id="28" name="Rectangle 27"/>
          <p:cNvSpPr/>
          <p:nvPr/>
        </p:nvSpPr>
        <p:spPr>
          <a:xfrm>
            <a:off x="2606040" y="2276856"/>
            <a:ext cx="1828800" cy="5486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642616" y="2359152"/>
            <a:ext cx="1755648" cy="429768"/>
          </a:xfrm>
          <a:prstGeom prst="rect">
            <a:avLst/>
          </a:prstGeom>
          <a:noFill/>
        </p:spPr>
        <p:txBody>
          <a:bodyPr wrap="square" lIns="27432" rIns="27432">
            <a:spAutoFit/>
          </a:bodyPr>
          <a:lstStyle/>
          <a:p>
            <a:pPr algn="l">
              <a:defRPr sz="1000" b="0">
                <a:solidFill>
                  <a:srgbClr val="232C34"/>
                </a:solidFill>
              </a:defRPr>
            </a:pPr>
            <a:r>
              <a:t>131,69</a:t>
            </a:r>
          </a:p>
        </p:txBody>
      </p:sp>
      <p:sp>
        <p:nvSpPr>
          <p:cNvPr id="30" name="Rectangle 29"/>
          <p:cNvSpPr/>
          <p:nvPr/>
        </p:nvSpPr>
        <p:spPr>
          <a:xfrm>
            <a:off x="4434840" y="2276856"/>
            <a:ext cx="1828800" cy="5486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71416" y="2359152"/>
            <a:ext cx="1755648" cy="429768"/>
          </a:xfrm>
          <a:prstGeom prst="rect">
            <a:avLst/>
          </a:prstGeom>
          <a:noFill/>
        </p:spPr>
        <p:txBody>
          <a:bodyPr wrap="square" lIns="27432" rIns="27432">
            <a:spAutoFit/>
          </a:bodyPr>
          <a:lstStyle/>
          <a:p>
            <a:pPr algn="l">
              <a:defRPr sz="1000" b="0">
                <a:solidFill>
                  <a:srgbClr val="232C34"/>
                </a:solidFill>
              </a:defRPr>
            </a:pPr>
            <a:r>
              <a:t>130</a:t>
            </a:r>
          </a:p>
        </p:txBody>
      </p:sp>
      <p:sp>
        <p:nvSpPr>
          <p:cNvPr id="32" name="Rectangle 31"/>
          <p:cNvSpPr/>
          <p:nvPr/>
        </p:nvSpPr>
        <p:spPr>
          <a:xfrm>
            <a:off x="6263640" y="2276856"/>
            <a:ext cx="2331720" cy="5486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00216" y="2359152"/>
            <a:ext cx="2258568" cy="429768"/>
          </a:xfrm>
          <a:prstGeom prst="rect">
            <a:avLst/>
          </a:prstGeom>
          <a:noFill/>
        </p:spPr>
        <p:txBody>
          <a:bodyPr wrap="square" lIns="27432" rIns="27432">
            <a:spAutoFit/>
          </a:bodyPr>
          <a:lstStyle/>
          <a:p>
            <a:pPr algn="l">
              <a:defRPr sz="1000" b="0">
                <a:solidFill>
                  <a:srgbClr val="232C34"/>
                </a:solidFill>
              </a:defRPr>
            </a:pPr>
            <a:r>
              <a:t>120–140</a:t>
            </a:r>
          </a:p>
        </p:txBody>
      </p:sp>
      <p:sp>
        <p:nvSpPr>
          <p:cNvPr id="34" name="Rectangle 33"/>
          <p:cNvSpPr/>
          <p:nvPr/>
        </p:nvSpPr>
        <p:spPr>
          <a:xfrm>
            <a:off x="8595360" y="2276856"/>
            <a:ext cx="2331720" cy="5486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631936" y="2359152"/>
            <a:ext cx="2258568" cy="429768"/>
          </a:xfrm>
          <a:prstGeom prst="rect">
            <a:avLst/>
          </a:prstGeom>
          <a:noFill/>
        </p:spPr>
        <p:txBody>
          <a:bodyPr wrap="square" lIns="27432" rIns="27432">
            <a:spAutoFit/>
          </a:bodyPr>
          <a:lstStyle/>
          <a:p>
            <a:pPr algn="l">
              <a:defRPr sz="1000" b="0">
                <a:solidFill>
                  <a:srgbClr val="232C34"/>
                </a:solidFill>
              </a:defRPr>
            </a:pPr>
            <a:r>
              <a:t>94–200</a:t>
            </a:r>
          </a:p>
        </p:txBody>
      </p:sp>
      <p:sp>
        <p:nvSpPr>
          <p:cNvPr id="36" name="Rectangle 35"/>
          <p:cNvSpPr/>
          <p:nvPr/>
        </p:nvSpPr>
        <p:spPr>
          <a:xfrm>
            <a:off x="594360" y="2843784"/>
            <a:ext cx="2011680" cy="5486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0936" y="2926079"/>
            <a:ext cx="1938528" cy="429768"/>
          </a:xfrm>
          <a:prstGeom prst="rect">
            <a:avLst/>
          </a:prstGeom>
          <a:noFill/>
        </p:spPr>
        <p:txBody>
          <a:bodyPr wrap="square" lIns="27432" rIns="27432">
            <a:spAutoFit/>
          </a:bodyPr>
          <a:lstStyle/>
          <a:p>
            <a:pPr algn="ctr">
              <a:defRPr sz="1000" b="1">
                <a:solidFill>
                  <a:srgbClr val="232C34"/>
                </a:solidFill>
              </a:defRPr>
            </a:pPr>
            <a:r>
              <a:t>chol</a:t>
            </a:r>
          </a:p>
        </p:txBody>
      </p:sp>
      <p:sp>
        <p:nvSpPr>
          <p:cNvPr id="38" name="Rectangle 37"/>
          <p:cNvSpPr/>
          <p:nvPr/>
        </p:nvSpPr>
        <p:spPr>
          <a:xfrm>
            <a:off x="2606040" y="2843784"/>
            <a:ext cx="1828800" cy="5486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642616" y="2926079"/>
            <a:ext cx="1755648" cy="429768"/>
          </a:xfrm>
          <a:prstGeom prst="rect">
            <a:avLst/>
          </a:prstGeom>
          <a:noFill/>
        </p:spPr>
        <p:txBody>
          <a:bodyPr wrap="square" lIns="27432" rIns="27432">
            <a:spAutoFit/>
          </a:bodyPr>
          <a:lstStyle/>
          <a:p>
            <a:pPr algn="l">
              <a:defRPr sz="1000" b="0">
                <a:solidFill>
                  <a:srgbClr val="232C34"/>
                </a:solidFill>
              </a:defRPr>
            </a:pPr>
            <a:r>
              <a:t>246,69</a:t>
            </a:r>
          </a:p>
        </p:txBody>
      </p:sp>
      <p:sp>
        <p:nvSpPr>
          <p:cNvPr id="40" name="Rectangle 39"/>
          <p:cNvSpPr/>
          <p:nvPr/>
        </p:nvSpPr>
        <p:spPr>
          <a:xfrm>
            <a:off x="4434840" y="2843784"/>
            <a:ext cx="1828800" cy="5486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71416" y="2926079"/>
            <a:ext cx="1755648" cy="429768"/>
          </a:xfrm>
          <a:prstGeom prst="rect">
            <a:avLst/>
          </a:prstGeom>
          <a:noFill/>
        </p:spPr>
        <p:txBody>
          <a:bodyPr wrap="square" lIns="27432" rIns="27432">
            <a:spAutoFit/>
          </a:bodyPr>
          <a:lstStyle/>
          <a:p>
            <a:pPr algn="l">
              <a:defRPr sz="1000" b="0">
                <a:solidFill>
                  <a:srgbClr val="232C34"/>
                </a:solidFill>
              </a:defRPr>
            </a:pPr>
            <a:r>
              <a:t>241</a:t>
            </a:r>
          </a:p>
        </p:txBody>
      </p:sp>
      <p:sp>
        <p:nvSpPr>
          <p:cNvPr id="42" name="Rectangle 41"/>
          <p:cNvSpPr/>
          <p:nvPr/>
        </p:nvSpPr>
        <p:spPr>
          <a:xfrm>
            <a:off x="6263640" y="2843784"/>
            <a:ext cx="2331720" cy="5486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300216" y="2926079"/>
            <a:ext cx="2258568" cy="429768"/>
          </a:xfrm>
          <a:prstGeom prst="rect">
            <a:avLst/>
          </a:prstGeom>
          <a:noFill/>
        </p:spPr>
        <p:txBody>
          <a:bodyPr wrap="square" lIns="27432" rIns="27432">
            <a:spAutoFit/>
          </a:bodyPr>
          <a:lstStyle/>
          <a:p>
            <a:pPr algn="l">
              <a:defRPr sz="1000" b="0">
                <a:solidFill>
                  <a:srgbClr val="232C34"/>
                </a:solidFill>
              </a:defRPr>
            </a:pPr>
            <a:r>
              <a:t>211–275</a:t>
            </a:r>
          </a:p>
        </p:txBody>
      </p:sp>
      <p:sp>
        <p:nvSpPr>
          <p:cNvPr id="44" name="Rectangle 43"/>
          <p:cNvSpPr/>
          <p:nvPr/>
        </p:nvSpPr>
        <p:spPr>
          <a:xfrm>
            <a:off x="8595360" y="2843784"/>
            <a:ext cx="2331720" cy="5486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631936" y="2926079"/>
            <a:ext cx="2258568" cy="429768"/>
          </a:xfrm>
          <a:prstGeom prst="rect">
            <a:avLst/>
          </a:prstGeom>
          <a:noFill/>
        </p:spPr>
        <p:txBody>
          <a:bodyPr wrap="square" lIns="27432" rIns="27432">
            <a:spAutoFit/>
          </a:bodyPr>
          <a:lstStyle/>
          <a:p>
            <a:pPr algn="l">
              <a:defRPr sz="1000" b="0">
                <a:solidFill>
                  <a:srgbClr val="232C34"/>
                </a:solidFill>
              </a:defRPr>
            </a:pPr>
            <a:r>
              <a:t>126–564</a:t>
            </a:r>
          </a:p>
        </p:txBody>
      </p:sp>
      <p:sp>
        <p:nvSpPr>
          <p:cNvPr id="46" name="Rectangle 45"/>
          <p:cNvSpPr/>
          <p:nvPr/>
        </p:nvSpPr>
        <p:spPr>
          <a:xfrm>
            <a:off x="594360" y="3410712"/>
            <a:ext cx="2011680" cy="5486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0936" y="3493008"/>
            <a:ext cx="1938528" cy="429768"/>
          </a:xfrm>
          <a:prstGeom prst="rect">
            <a:avLst/>
          </a:prstGeom>
          <a:noFill/>
        </p:spPr>
        <p:txBody>
          <a:bodyPr wrap="square" lIns="27432" rIns="27432">
            <a:spAutoFit/>
          </a:bodyPr>
          <a:lstStyle/>
          <a:p>
            <a:pPr algn="ctr">
              <a:defRPr sz="1000" b="1">
                <a:solidFill>
                  <a:srgbClr val="232C34"/>
                </a:solidFill>
              </a:defRPr>
            </a:pPr>
            <a:r>
              <a:t>thalach</a:t>
            </a:r>
          </a:p>
        </p:txBody>
      </p:sp>
      <p:sp>
        <p:nvSpPr>
          <p:cNvPr id="48" name="Rectangle 47"/>
          <p:cNvSpPr/>
          <p:nvPr/>
        </p:nvSpPr>
        <p:spPr>
          <a:xfrm>
            <a:off x="2606040" y="3410712"/>
            <a:ext cx="1828800" cy="5486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642616" y="3493008"/>
            <a:ext cx="1755648" cy="429768"/>
          </a:xfrm>
          <a:prstGeom prst="rect">
            <a:avLst/>
          </a:prstGeom>
          <a:noFill/>
        </p:spPr>
        <p:txBody>
          <a:bodyPr wrap="square" lIns="27432" rIns="27432">
            <a:spAutoFit/>
          </a:bodyPr>
          <a:lstStyle/>
          <a:p>
            <a:pPr algn="l">
              <a:defRPr sz="1000" b="0">
                <a:solidFill>
                  <a:srgbClr val="232C34"/>
                </a:solidFill>
              </a:defRPr>
            </a:pPr>
            <a:r>
              <a:t>149,61</a:t>
            </a:r>
          </a:p>
        </p:txBody>
      </p:sp>
      <p:sp>
        <p:nvSpPr>
          <p:cNvPr id="50" name="Rectangle 49"/>
          <p:cNvSpPr/>
          <p:nvPr/>
        </p:nvSpPr>
        <p:spPr>
          <a:xfrm>
            <a:off x="4434840" y="3410712"/>
            <a:ext cx="1828800" cy="5486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71416" y="3493008"/>
            <a:ext cx="1755648" cy="429768"/>
          </a:xfrm>
          <a:prstGeom prst="rect">
            <a:avLst/>
          </a:prstGeom>
          <a:noFill/>
        </p:spPr>
        <p:txBody>
          <a:bodyPr wrap="square" lIns="27432" rIns="27432">
            <a:spAutoFit/>
          </a:bodyPr>
          <a:lstStyle/>
          <a:p>
            <a:pPr algn="l">
              <a:defRPr sz="1000" b="0">
                <a:solidFill>
                  <a:srgbClr val="232C34"/>
                </a:solidFill>
              </a:defRPr>
            </a:pPr>
            <a:r>
              <a:t>153</a:t>
            </a:r>
          </a:p>
        </p:txBody>
      </p:sp>
      <p:sp>
        <p:nvSpPr>
          <p:cNvPr id="52" name="Rectangle 51"/>
          <p:cNvSpPr/>
          <p:nvPr/>
        </p:nvSpPr>
        <p:spPr>
          <a:xfrm>
            <a:off x="6263640" y="3410712"/>
            <a:ext cx="2331720" cy="5486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300216" y="3493008"/>
            <a:ext cx="2258568" cy="429768"/>
          </a:xfrm>
          <a:prstGeom prst="rect">
            <a:avLst/>
          </a:prstGeom>
          <a:noFill/>
        </p:spPr>
        <p:txBody>
          <a:bodyPr wrap="square" lIns="27432" rIns="27432">
            <a:spAutoFit/>
          </a:bodyPr>
          <a:lstStyle/>
          <a:p>
            <a:pPr algn="l">
              <a:defRPr sz="1000" b="0">
                <a:solidFill>
                  <a:srgbClr val="232C34"/>
                </a:solidFill>
              </a:defRPr>
            </a:pPr>
            <a:r>
              <a:t>133,5–166</a:t>
            </a:r>
          </a:p>
        </p:txBody>
      </p:sp>
      <p:sp>
        <p:nvSpPr>
          <p:cNvPr id="54" name="Rectangle 53"/>
          <p:cNvSpPr/>
          <p:nvPr/>
        </p:nvSpPr>
        <p:spPr>
          <a:xfrm>
            <a:off x="8595360" y="3410712"/>
            <a:ext cx="2331720" cy="548640"/>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631936" y="3493008"/>
            <a:ext cx="2258568" cy="429768"/>
          </a:xfrm>
          <a:prstGeom prst="rect">
            <a:avLst/>
          </a:prstGeom>
          <a:noFill/>
        </p:spPr>
        <p:txBody>
          <a:bodyPr wrap="square" lIns="27432" rIns="27432">
            <a:spAutoFit/>
          </a:bodyPr>
          <a:lstStyle/>
          <a:p>
            <a:pPr algn="l">
              <a:defRPr sz="1000" b="0">
                <a:solidFill>
                  <a:srgbClr val="232C34"/>
                </a:solidFill>
              </a:defRPr>
            </a:pPr>
            <a:r>
              <a:t>71–202</a:t>
            </a:r>
          </a:p>
        </p:txBody>
      </p:sp>
      <p:sp>
        <p:nvSpPr>
          <p:cNvPr id="56" name="Rectangle 55"/>
          <p:cNvSpPr/>
          <p:nvPr/>
        </p:nvSpPr>
        <p:spPr>
          <a:xfrm>
            <a:off x="594360" y="3977639"/>
            <a:ext cx="2011680" cy="5486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30936" y="4059935"/>
            <a:ext cx="1938528" cy="429768"/>
          </a:xfrm>
          <a:prstGeom prst="rect">
            <a:avLst/>
          </a:prstGeom>
          <a:noFill/>
        </p:spPr>
        <p:txBody>
          <a:bodyPr wrap="square" lIns="27432" rIns="27432">
            <a:spAutoFit/>
          </a:bodyPr>
          <a:lstStyle/>
          <a:p>
            <a:pPr algn="ctr">
              <a:defRPr sz="1000" b="1">
                <a:solidFill>
                  <a:srgbClr val="232C34"/>
                </a:solidFill>
              </a:defRPr>
            </a:pPr>
            <a:r>
              <a:t>oldpeak</a:t>
            </a:r>
          </a:p>
        </p:txBody>
      </p:sp>
      <p:sp>
        <p:nvSpPr>
          <p:cNvPr id="58" name="Rectangle 57"/>
          <p:cNvSpPr/>
          <p:nvPr/>
        </p:nvSpPr>
        <p:spPr>
          <a:xfrm>
            <a:off x="2606040" y="3977639"/>
            <a:ext cx="1828800" cy="5486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642616" y="4059935"/>
            <a:ext cx="1755648" cy="429768"/>
          </a:xfrm>
          <a:prstGeom prst="rect">
            <a:avLst/>
          </a:prstGeom>
          <a:noFill/>
        </p:spPr>
        <p:txBody>
          <a:bodyPr wrap="square" lIns="27432" rIns="27432">
            <a:spAutoFit/>
          </a:bodyPr>
          <a:lstStyle/>
          <a:p>
            <a:pPr algn="l">
              <a:defRPr sz="1000" b="0">
                <a:solidFill>
                  <a:srgbClr val="232C34"/>
                </a:solidFill>
              </a:defRPr>
            </a:pPr>
            <a:r>
              <a:t>1,04</a:t>
            </a:r>
          </a:p>
        </p:txBody>
      </p:sp>
      <p:sp>
        <p:nvSpPr>
          <p:cNvPr id="60" name="Rectangle 59"/>
          <p:cNvSpPr/>
          <p:nvPr/>
        </p:nvSpPr>
        <p:spPr>
          <a:xfrm>
            <a:off x="4434840" y="3977639"/>
            <a:ext cx="1828800" cy="5486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471416" y="4059935"/>
            <a:ext cx="1755648" cy="429768"/>
          </a:xfrm>
          <a:prstGeom prst="rect">
            <a:avLst/>
          </a:prstGeom>
          <a:noFill/>
        </p:spPr>
        <p:txBody>
          <a:bodyPr wrap="square" lIns="27432" rIns="27432">
            <a:spAutoFit/>
          </a:bodyPr>
          <a:lstStyle/>
          <a:p>
            <a:pPr algn="l">
              <a:defRPr sz="1000" b="0">
                <a:solidFill>
                  <a:srgbClr val="232C34"/>
                </a:solidFill>
              </a:defRPr>
            </a:pPr>
            <a:r>
              <a:t>0,8</a:t>
            </a:r>
          </a:p>
        </p:txBody>
      </p:sp>
      <p:sp>
        <p:nvSpPr>
          <p:cNvPr id="62" name="Rectangle 61"/>
          <p:cNvSpPr/>
          <p:nvPr/>
        </p:nvSpPr>
        <p:spPr>
          <a:xfrm>
            <a:off x="6263640" y="3977639"/>
            <a:ext cx="2331720" cy="5486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300216" y="4059935"/>
            <a:ext cx="2258568" cy="429768"/>
          </a:xfrm>
          <a:prstGeom prst="rect">
            <a:avLst/>
          </a:prstGeom>
          <a:noFill/>
        </p:spPr>
        <p:txBody>
          <a:bodyPr wrap="square" lIns="27432" rIns="27432">
            <a:spAutoFit/>
          </a:bodyPr>
          <a:lstStyle/>
          <a:p>
            <a:pPr algn="l">
              <a:defRPr sz="1000" b="0">
                <a:solidFill>
                  <a:srgbClr val="232C34"/>
                </a:solidFill>
              </a:defRPr>
            </a:pPr>
            <a:r>
              <a:t>0–1,6</a:t>
            </a:r>
          </a:p>
        </p:txBody>
      </p:sp>
      <p:sp>
        <p:nvSpPr>
          <p:cNvPr id="64" name="Rectangle 63"/>
          <p:cNvSpPr/>
          <p:nvPr/>
        </p:nvSpPr>
        <p:spPr>
          <a:xfrm>
            <a:off x="8595360" y="3977639"/>
            <a:ext cx="2331720" cy="548640"/>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631936" y="4059935"/>
            <a:ext cx="2258568" cy="429768"/>
          </a:xfrm>
          <a:prstGeom prst="rect">
            <a:avLst/>
          </a:prstGeom>
          <a:noFill/>
        </p:spPr>
        <p:txBody>
          <a:bodyPr wrap="square" lIns="27432" rIns="27432">
            <a:spAutoFit/>
          </a:bodyPr>
          <a:lstStyle/>
          <a:p>
            <a:pPr algn="l">
              <a:defRPr sz="1000" b="0">
                <a:solidFill>
                  <a:srgbClr val="232C34"/>
                </a:solidFill>
              </a:defRPr>
            </a:pPr>
            <a:r>
              <a:t>0–6,2</a:t>
            </a:r>
          </a:p>
        </p:txBody>
      </p:sp>
      <p:sp>
        <p:nvSpPr>
          <p:cNvPr id="66" name="TextBox 65"/>
          <p:cNvSpPr txBox="1"/>
          <p:nvPr/>
        </p:nvSpPr>
        <p:spPr>
          <a:xfrm>
            <a:off x="685800" y="4736592"/>
            <a:ext cx="10698480" cy="320040"/>
          </a:xfrm>
          <a:prstGeom prst="rect">
            <a:avLst/>
          </a:prstGeom>
          <a:noFill/>
        </p:spPr>
        <p:txBody>
          <a:bodyPr wrap="square" lIns="27432" rIns="27432">
            <a:spAutoFit/>
          </a:bodyPr>
          <a:lstStyle/>
          <a:p>
            <a:pPr algn="l">
              <a:defRPr sz="1700" b="1">
                <a:solidFill>
                  <a:srgbClr val="0B1F34"/>
                </a:solidFill>
              </a:defRPr>
            </a:pPr>
            <a:r>
              <a:t>Lecture de l’inspection</a:t>
            </a:r>
          </a:p>
        </p:txBody>
      </p:sp>
      <p:sp>
        <p:nvSpPr>
          <p:cNvPr id="67" name="TextBox 66"/>
          <p:cNvSpPr txBox="1"/>
          <p:nvPr/>
        </p:nvSpPr>
        <p:spPr>
          <a:xfrm>
            <a:off x="685800" y="5193792"/>
            <a:ext cx="10698480" cy="685800"/>
          </a:xfrm>
          <a:prstGeom prst="rect">
            <a:avLst/>
          </a:prstGeom>
          <a:noFill/>
        </p:spPr>
        <p:txBody>
          <a:bodyPr wrap="square" lIns="27432" rIns="27432">
            <a:spAutoFit/>
          </a:bodyPr>
          <a:lstStyle/>
          <a:p>
            <a:pPr algn="l">
              <a:defRPr sz="1400" b="0">
                <a:solidFill>
                  <a:srgbClr val="232C34"/>
                </a:solidFill>
              </a:defRPr>
            </a:pPr>
            <a:r>
              <a:t>Les valeurs maximales de trestbps (200), chol (564) et oldpeak (6,2) sont nettement éloignées de leurs médianes et troisièmes quartiles. Elles constituent des signaux à investiguer, pas des erreurs démontrées.</a:t>
            </a:r>
          </a:p>
        </p:txBody>
      </p:sp>
      <p:sp>
        <p:nvSpPr>
          <p:cNvPr id="68" name="TextBox 67"/>
          <p:cNvSpPr txBox="1"/>
          <p:nvPr/>
        </p:nvSpPr>
        <p:spPr>
          <a:xfrm>
            <a:off x="566928" y="6364224"/>
            <a:ext cx="10698480" cy="155448"/>
          </a:xfrm>
          <a:prstGeom prst="rect">
            <a:avLst/>
          </a:prstGeom>
          <a:noFill/>
        </p:spPr>
        <p:txBody>
          <a:bodyPr wrap="square" lIns="27432" rIns="27432">
            <a:spAutoFit/>
          </a:bodyPr>
          <a:lstStyle/>
          <a:p>
            <a:pPr algn="l">
              <a:defRPr sz="690" b="0">
                <a:solidFill>
                  <a:srgbClr val="64707B"/>
                </a:solidFill>
              </a:defRPr>
            </a:pPr>
            <a:r>
              <a:t>Statistiques descriptives calculées avec describe().T.</a:t>
            </a:r>
          </a:p>
        </p:txBody>
      </p:sp>
      <p:sp>
        <p:nvSpPr>
          <p:cNvPr id="69" name="TextBox 68"/>
          <p:cNvSpPr txBox="1"/>
          <p:nvPr/>
        </p:nvSpPr>
        <p:spPr>
          <a:xfrm>
            <a:off x="566928" y="6601968"/>
            <a:ext cx="7772400" cy="128016"/>
          </a:xfrm>
          <a:prstGeom prst="rect">
            <a:avLst/>
          </a:prstGeom>
          <a:noFill/>
        </p:spPr>
        <p:txBody>
          <a:bodyPr wrap="square" lIns="27432" rIns="27432">
            <a:spAutoFit/>
          </a:bodyPr>
          <a:lstStyle/>
          <a:p>
            <a:pPr algn="l">
              <a:defRPr sz="680" b="0">
                <a:solidFill>
                  <a:srgbClr val="64707B"/>
                </a:solidFill>
              </a:defRPr>
            </a:pPr>
            <a:r>
              <a:t>Joseph MUSENGA • Master 1 A.I • Dakar Institute of Technology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0B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10607040" cy="329184"/>
          </a:xfrm>
          <a:prstGeom prst="rect">
            <a:avLst/>
          </a:prstGeom>
          <a:noFill/>
        </p:spPr>
        <p:txBody>
          <a:bodyPr wrap="square" lIns="27432" rIns="27432">
            <a:spAutoFit/>
          </a:bodyPr>
          <a:lstStyle/>
          <a:p>
            <a:pPr algn="l">
              <a:defRPr sz="2100" b="1">
                <a:solidFill>
                  <a:srgbClr val="FFFFFF"/>
                </a:solidFill>
              </a:defRPr>
            </a:pPr>
            <a:r>
              <a:t>Q2 — État des variables catégorielles</a:t>
            </a:r>
          </a:p>
        </p:txBody>
      </p:sp>
      <p:sp>
        <p:nvSpPr>
          <p:cNvPr id="5" name="TextBox 4"/>
          <p:cNvSpPr txBox="1"/>
          <p:nvPr/>
        </p:nvSpPr>
        <p:spPr>
          <a:xfrm>
            <a:off x="11109960" y="164592"/>
            <a:ext cx="457200" cy="182880"/>
          </a:xfrm>
          <a:prstGeom prst="rect">
            <a:avLst/>
          </a:prstGeom>
          <a:noFill/>
        </p:spPr>
        <p:txBody>
          <a:bodyPr wrap="square" lIns="27432" rIns="27432">
            <a:spAutoFit/>
          </a:bodyPr>
          <a:lstStyle/>
          <a:p>
            <a:pPr algn="r">
              <a:defRPr sz="900" b="1">
                <a:solidFill>
                  <a:srgbClr val="A3C1DB"/>
                </a:solidFill>
              </a:defRPr>
            </a:pPr>
            <a:r>
              <a:t>08</a:t>
            </a:r>
          </a:p>
        </p:txBody>
      </p:sp>
      <p:graphicFrame>
        <p:nvGraphicFramePr>
          <p:cNvPr id="6" name="Chart 5"/>
          <p:cNvGraphicFramePr>
            <a:graphicFrameLocks noGrp="1"/>
          </p:cNvGraphicFramePr>
          <p:nvPr/>
        </p:nvGraphicFramePr>
        <p:xfrm>
          <a:off x="594360" y="1097280"/>
          <a:ext cx="3429000" cy="28803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a:graphicFrameLocks noGrp="1"/>
          </p:cNvGraphicFramePr>
          <p:nvPr/>
        </p:nvGraphicFramePr>
        <p:xfrm>
          <a:off x="4160520" y="1097280"/>
          <a:ext cx="320040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7635240" y="1234440"/>
            <a:ext cx="3749039" cy="2560320"/>
          </a:xfrm>
          <a:prstGeom prst="round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635240" y="1234440"/>
            <a:ext cx="64008" cy="2560320"/>
          </a:xfrm>
          <a:prstGeom prst="rect">
            <a:avLst/>
          </a:prstGeom>
          <a:solidFill>
            <a:srgbClr val="21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36408" y="1380744"/>
            <a:ext cx="3364991" cy="256032"/>
          </a:xfrm>
          <a:prstGeom prst="rect">
            <a:avLst/>
          </a:prstGeom>
          <a:noFill/>
        </p:spPr>
        <p:txBody>
          <a:bodyPr wrap="square" lIns="27432" rIns="27432">
            <a:spAutoFit/>
          </a:bodyPr>
          <a:lstStyle/>
          <a:p>
            <a:pPr algn="l">
              <a:defRPr sz="1100" b="1">
                <a:solidFill>
                  <a:srgbClr val="215F9A"/>
                </a:solidFill>
              </a:defRPr>
            </a:pPr>
            <a:r>
              <a:t>Autres répartitions observées</a:t>
            </a:r>
          </a:p>
        </p:txBody>
      </p:sp>
      <p:sp>
        <p:nvSpPr>
          <p:cNvPr id="11" name="TextBox 10"/>
          <p:cNvSpPr txBox="1"/>
          <p:nvPr/>
        </p:nvSpPr>
        <p:spPr>
          <a:xfrm>
            <a:off x="7836408" y="1746504"/>
            <a:ext cx="3364991" cy="1938527"/>
          </a:xfrm>
          <a:prstGeom prst="rect">
            <a:avLst/>
          </a:prstGeom>
          <a:noFill/>
        </p:spPr>
        <p:txBody>
          <a:bodyPr wrap="square" lIns="27432" rIns="27432">
            <a:spAutoFit/>
          </a:bodyPr>
          <a:lstStyle/>
          <a:p>
            <a:pPr algn="l">
              <a:defRPr sz="1050" b="0">
                <a:solidFill>
                  <a:srgbClr val="232C34"/>
                </a:solidFill>
              </a:defRPr>
            </a:pPr>
            <a:r>
              <a:t>sex : modalité 1 = 67,99 %</a:t>
            </a:r>
            <a:br/>
            <a:r>
              <a:t>cp : modalité 3 = 47,52 %</a:t>
            </a:r>
            <a:br/>
            <a:r>
              <a:t>restecg : 0 = 49,83 % ; 2 = 48,84 %</a:t>
            </a:r>
            <a:br/>
            <a:r>
              <a:t>slope : 0 = 46,86 % ; 1 = 46,20 %</a:t>
            </a:r>
            <a:br/>
            <a:r>
              <a:t>thal : modalité 1 = 55,45 %</a:t>
            </a:r>
          </a:p>
        </p:txBody>
      </p:sp>
      <p:sp>
        <p:nvSpPr>
          <p:cNvPr id="12" name="TextBox 11"/>
          <p:cNvSpPr txBox="1"/>
          <p:nvPr/>
        </p:nvSpPr>
        <p:spPr>
          <a:xfrm>
            <a:off x="685800" y="4480560"/>
            <a:ext cx="10698480" cy="731520"/>
          </a:xfrm>
          <a:prstGeom prst="rect">
            <a:avLst/>
          </a:prstGeom>
          <a:noFill/>
        </p:spPr>
        <p:txBody>
          <a:bodyPr wrap="square" lIns="27432" rIns="27432">
            <a:spAutoFit/>
          </a:bodyPr>
          <a:lstStyle/>
          <a:p>
            <a:pPr algn="ctr">
              <a:defRPr sz="1350" b="1">
                <a:solidFill>
                  <a:srgbClr val="232C34"/>
                </a:solidFill>
              </a:defRPr>
            </a:pPr>
            <a:r>
              <a:t>La cible target est relativement équilibrée (54,13 % / 45,87 %). Certaines variables explicatives présentent en revanche une modalité dominante, notamment fbs. Ce déséquilibre est un constat descriptif à prendre en compte dans les analyses futures.</a:t>
            </a:r>
          </a:p>
        </p:txBody>
      </p:sp>
      <p:sp>
        <p:nvSpPr>
          <p:cNvPr id="13" name="TextBox 12"/>
          <p:cNvSpPr txBox="1"/>
          <p:nvPr/>
        </p:nvSpPr>
        <p:spPr>
          <a:xfrm>
            <a:off x="566928" y="6364224"/>
            <a:ext cx="10698480" cy="155448"/>
          </a:xfrm>
          <a:prstGeom prst="rect">
            <a:avLst/>
          </a:prstGeom>
          <a:noFill/>
        </p:spPr>
        <p:txBody>
          <a:bodyPr wrap="square" lIns="27432" rIns="27432">
            <a:spAutoFit/>
          </a:bodyPr>
          <a:lstStyle/>
          <a:p>
            <a:pPr algn="l">
              <a:defRPr sz="690" b="0">
                <a:solidFill>
                  <a:srgbClr val="64707B"/>
                </a:solidFill>
              </a:defRPr>
            </a:pPr>
            <a:r>
              <a:t>Fréquences calculées avec value_counts() et value_counts(normalize=True).</a:t>
            </a:r>
          </a:p>
        </p:txBody>
      </p:sp>
      <p:sp>
        <p:nvSpPr>
          <p:cNvPr id="14" name="TextBox 13"/>
          <p:cNvSpPr txBox="1"/>
          <p:nvPr/>
        </p:nvSpPr>
        <p:spPr>
          <a:xfrm>
            <a:off x="566928" y="6601968"/>
            <a:ext cx="7772400" cy="128016"/>
          </a:xfrm>
          <a:prstGeom prst="rect">
            <a:avLst/>
          </a:prstGeom>
          <a:noFill/>
        </p:spPr>
        <p:txBody>
          <a:bodyPr wrap="square" lIns="27432" rIns="27432">
            <a:spAutoFit/>
          </a:bodyPr>
          <a:lstStyle/>
          <a:p>
            <a:pPr algn="l">
              <a:defRPr sz="680" b="0">
                <a:solidFill>
                  <a:srgbClr val="64707B"/>
                </a:solidFill>
              </a:defRPr>
            </a:pPr>
            <a:r>
              <a:t>Joseph MUSENGA • Master 1 A.I • Dakar Institute of Technology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0B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10607040" cy="329184"/>
          </a:xfrm>
          <a:prstGeom prst="rect">
            <a:avLst/>
          </a:prstGeom>
          <a:noFill/>
        </p:spPr>
        <p:txBody>
          <a:bodyPr wrap="square" lIns="27432" rIns="27432">
            <a:spAutoFit/>
          </a:bodyPr>
          <a:lstStyle/>
          <a:p>
            <a:pPr algn="l">
              <a:defRPr sz="2100" b="1">
                <a:solidFill>
                  <a:srgbClr val="FFFFFF"/>
                </a:solidFill>
              </a:defRPr>
            </a:pPr>
            <a:r>
              <a:t>Q3 — Quelles sont les problématiques identifiées ?</a:t>
            </a:r>
          </a:p>
        </p:txBody>
      </p:sp>
      <p:sp>
        <p:nvSpPr>
          <p:cNvPr id="5" name="TextBox 4"/>
          <p:cNvSpPr txBox="1"/>
          <p:nvPr/>
        </p:nvSpPr>
        <p:spPr>
          <a:xfrm>
            <a:off x="11109960" y="164592"/>
            <a:ext cx="457200" cy="182880"/>
          </a:xfrm>
          <a:prstGeom prst="rect">
            <a:avLst/>
          </a:prstGeom>
          <a:noFill/>
        </p:spPr>
        <p:txBody>
          <a:bodyPr wrap="square" lIns="27432" rIns="27432">
            <a:spAutoFit/>
          </a:bodyPr>
          <a:lstStyle/>
          <a:p>
            <a:pPr algn="r">
              <a:defRPr sz="900" b="1">
                <a:solidFill>
                  <a:srgbClr val="A3C1DB"/>
                </a:solidFill>
              </a:defRPr>
            </a:pPr>
            <a:r>
              <a:t>09</a:t>
            </a:r>
          </a:p>
        </p:txBody>
      </p:sp>
      <p:sp>
        <p:nvSpPr>
          <p:cNvPr id="6" name="TextBox 5"/>
          <p:cNvSpPr txBox="1"/>
          <p:nvPr/>
        </p:nvSpPr>
        <p:spPr>
          <a:xfrm>
            <a:off x="530352" y="713232"/>
            <a:ext cx="10789920" cy="201168"/>
          </a:xfrm>
          <a:prstGeom prst="rect">
            <a:avLst/>
          </a:prstGeom>
          <a:noFill/>
        </p:spPr>
        <p:txBody>
          <a:bodyPr wrap="square" lIns="27432" rIns="27432">
            <a:spAutoFit/>
          </a:bodyPr>
          <a:lstStyle/>
          <a:p>
            <a:pPr algn="l">
              <a:defRPr sz="850" b="1">
                <a:solidFill>
                  <a:srgbClr val="215F9A"/>
                </a:solidFill>
              </a:defRPr>
            </a:pPr>
            <a:r>
              <a:t>Problèmes réellement soutenus par l’inspection</a:t>
            </a:r>
          </a:p>
        </p:txBody>
      </p:sp>
      <p:sp>
        <p:nvSpPr>
          <p:cNvPr id="7" name="Rounded Rectangle 6"/>
          <p:cNvSpPr/>
          <p:nvPr/>
        </p:nvSpPr>
        <p:spPr>
          <a:xfrm>
            <a:off x="594360" y="1051560"/>
            <a:ext cx="10972800" cy="987552"/>
          </a:xfrm>
          <a:prstGeom prst="roundRect">
            <a:avLst/>
          </a:prstGeom>
          <a:solidFill>
            <a:srgbClr val="F6F8FB"/>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216151"/>
            <a:ext cx="502920" cy="228600"/>
          </a:xfrm>
          <a:prstGeom prst="rect">
            <a:avLst/>
          </a:prstGeom>
          <a:noFill/>
        </p:spPr>
        <p:txBody>
          <a:bodyPr wrap="square" lIns="27432" rIns="27432">
            <a:spAutoFit/>
          </a:bodyPr>
          <a:lstStyle/>
          <a:p>
            <a:pPr algn="l">
              <a:defRPr sz="1200" b="1">
                <a:solidFill>
                  <a:srgbClr val="DC892A"/>
                </a:solidFill>
              </a:defRPr>
            </a:pPr>
            <a:r>
              <a:t>P1</a:t>
            </a:r>
          </a:p>
        </p:txBody>
      </p:sp>
      <p:sp>
        <p:nvSpPr>
          <p:cNvPr id="9" name="TextBox 8"/>
          <p:cNvSpPr txBox="1"/>
          <p:nvPr/>
        </p:nvSpPr>
        <p:spPr>
          <a:xfrm>
            <a:off x="1325880" y="1161288"/>
            <a:ext cx="2743200" cy="292608"/>
          </a:xfrm>
          <a:prstGeom prst="rect">
            <a:avLst/>
          </a:prstGeom>
          <a:noFill/>
        </p:spPr>
        <p:txBody>
          <a:bodyPr wrap="square" lIns="27432" rIns="27432">
            <a:spAutoFit/>
          </a:bodyPr>
          <a:lstStyle/>
          <a:p>
            <a:pPr algn="l">
              <a:defRPr sz="1120" b="1">
                <a:solidFill>
                  <a:srgbClr val="0B1F34"/>
                </a:solidFill>
              </a:defRPr>
            </a:pPr>
            <a:r>
              <a:t>Ambiguïté entre dtype et nature statistique</a:t>
            </a:r>
          </a:p>
        </p:txBody>
      </p:sp>
      <p:sp>
        <p:nvSpPr>
          <p:cNvPr id="10" name="TextBox 9"/>
          <p:cNvSpPr txBox="1"/>
          <p:nvPr/>
        </p:nvSpPr>
        <p:spPr>
          <a:xfrm>
            <a:off x="4160520" y="1161288"/>
            <a:ext cx="3794760" cy="548640"/>
          </a:xfrm>
          <a:prstGeom prst="rect">
            <a:avLst/>
          </a:prstGeom>
          <a:noFill/>
        </p:spPr>
        <p:txBody>
          <a:bodyPr wrap="square" lIns="27432" rIns="27432">
            <a:spAutoFit/>
          </a:bodyPr>
          <a:lstStyle/>
          <a:p>
            <a:pPr algn="l">
              <a:defRPr sz="980" b="0">
                <a:solidFill>
                  <a:srgbClr val="232C34"/>
                </a:solidFill>
              </a:defRPr>
            </a:pPr>
            <a:r>
              <a:t>Toutes les colonnes sont numériques, mais plusieurs représentent des catégories.</a:t>
            </a:r>
          </a:p>
        </p:txBody>
      </p:sp>
      <p:sp>
        <p:nvSpPr>
          <p:cNvPr id="11" name="TextBox 10"/>
          <p:cNvSpPr txBox="1"/>
          <p:nvPr/>
        </p:nvSpPr>
        <p:spPr>
          <a:xfrm>
            <a:off x="8183879" y="1161288"/>
            <a:ext cx="3063240" cy="548640"/>
          </a:xfrm>
          <a:prstGeom prst="rect">
            <a:avLst/>
          </a:prstGeom>
          <a:noFill/>
        </p:spPr>
        <p:txBody>
          <a:bodyPr wrap="square" lIns="27432" rIns="27432">
            <a:spAutoFit/>
          </a:bodyPr>
          <a:lstStyle/>
          <a:p>
            <a:pPr algn="l">
              <a:defRPr sz="980" b="0">
                <a:solidFill>
                  <a:srgbClr val="232C34"/>
                </a:solidFill>
              </a:defRPr>
            </a:pPr>
            <a:r>
              <a:t>Risque de traiter à tort des codes comme des mesures continues.</a:t>
            </a:r>
          </a:p>
        </p:txBody>
      </p:sp>
      <p:sp>
        <p:nvSpPr>
          <p:cNvPr id="12" name="Rounded Rectangle 11"/>
          <p:cNvSpPr/>
          <p:nvPr/>
        </p:nvSpPr>
        <p:spPr>
          <a:xfrm>
            <a:off x="594360" y="2276856"/>
            <a:ext cx="10972800" cy="987552"/>
          </a:xfrm>
          <a:prstGeom prst="roundRect">
            <a:avLst/>
          </a:prstGeom>
          <a:solidFill>
            <a:srgbClr val="F6F8FB"/>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2441448"/>
            <a:ext cx="502920" cy="228600"/>
          </a:xfrm>
          <a:prstGeom prst="rect">
            <a:avLst/>
          </a:prstGeom>
          <a:noFill/>
        </p:spPr>
        <p:txBody>
          <a:bodyPr wrap="square" lIns="27432" rIns="27432">
            <a:spAutoFit/>
          </a:bodyPr>
          <a:lstStyle/>
          <a:p>
            <a:pPr algn="l">
              <a:defRPr sz="1200" b="1">
                <a:solidFill>
                  <a:srgbClr val="B5413A"/>
                </a:solidFill>
              </a:defRPr>
            </a:pPr>
            <a:r>
              <a:t>P2</a:t>
            </a:r>
          </a:p>
        </p:txBody>
      </p:sp>
      <p:sp>
        <p:nvSpPr>
          <p:cNvPr id="14" name="TextBox 13"/>
          <p:cNvSpPr txBox="1"/>
          <p:nvPr/>
        </p:nvSpPr>
        <p:spPr>
          <a:xfrm>
            <a:off x="1325880" y="2386584"/>
            <a:ext cx="2743200" cy="292608"/>
          </a:xfrm>
          <a:prstGeom prst="rect">
            <a:avLst/>
          </a:prstGeom>
          <a:noFill/>
        </p:spPr>
        <p:txBody>
          <a:bodyPr wrap="square" lIns="27432" rIns="27432">
            <a:spAutoFit/>
          </a:bodyPr>
          <a:lstStyle/>
          <a:p>
            <a:pPr algn="l">
              <a:defRPr sz="1120" b="1">
                <a:solidFill>
                  <a:srgbClr val="0B1F34"/>
                </a:solidFill>
              </a:defRPr>
            </a:pPr>
            <a:r>
              <a:t>Codage documentaire incomplet</a:t>
            </a:r>
          </a:p>
        </p:txBody>
      </p:sp>
      <p:sp>
        <p:nvSpPr>
          <p:cNvPr id="15" name="TextBox 14"/>
          <p:cNvSpPr txBox="1"/>
          <p:nvPr/>
        </p:nvSpPr>
        <p:spPr>
          <a:xfrm>
            <a:off x="4160520" y="2386584"/>
            <a:ext cx="3794760" cy="548640"/>
          </a:xfrm>
          <a:prstGeom prst="rect">
            <a:avLst/>
          </a:prstGeom>
          <a:noFill/>
        </p:spPr>
        <p:txBody>
          <a:bodyPr wrap="square" lIns="27432" rIns="27432">
            <a:spAutoFit/>
          </a:bodyPr>
          <a:lstStyle/>
          <a:p>
            <a:pPr algn="l">
              <a:defRPr sz="980" b="0">
                <a:solidFill>
                  <a:srgbClr val="232C34"/>
                </a:solidFill>
              </a:defRPr>
            </a:pPr>
            <a:r>
              <a:t>cp, slope et thal utilisent des codes recodés dans cette version du fichier.</a:t>
            </a:r>
          </a:p>
        </p:txBody>
      </p:sp>
      <p:sp>
        <p:nvSpPr>
          <p:cNvPr id="16" name="TextBox 15"/>
          <p:cNvSpPr txBox="1"/>
          <p:nvPr/>
        </p:nvSpPr>
        <p:spPr>
          <a:xfrm>
            <a:off x="8183879" y="2386584"/>
            <a:ext cx="3063240" cy="548640"/>
          </a:xfrm>
          <a:prstGeom prst="rect">
            <a:avLst/>
          </a:prstGeom>
          <a:noFill/>
        </p:spPr>
        <p:txBody>
          <a:bodyPr wrap="square" lIns="27432" rIns="27432">
            <a:spAutoFit/>
          </a:bodyPr>
          <a:lstStyle/>
          <a:p>
            <a:pPr algn="l">
              <a:defRPr sz="980" b="0">
                <a:solidFill>
                  <a:srgbClr val="232C34"/>
                </a:solidFill>
              </a:defRPr>
            </a:pPr>
            <a:r>
              <a:t>Risque d’interprétation sémantique erronée.</a:t>
            </a:r>
          </a:p>
        </p:txBody>
      </p:sp>
      <p:sp>
        <p:nvSpPr>
          <p:cNvPr id="17" name="Rounded Rectangle 16"/>
          <p:cNvSpPr/>
          <p:nvPr/>
        </p:nvSpPr>
        <p:spPr>
          <a:xfrm>
            <a:off x="594360" y="3502152"/>
            <a:ext cx="10972800" cy="987552"/>
          </a:xfrm>
          <a:prstGeom prst="roundRect">
            <a:avLst/>
          </a:prstGeom>
          <a:solidFill>
            <a:srgbClr val="F6F8FB"/>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3666744"/>
            <a:ext cx="502920" cy="228600"/>
          </a:xfrm>
          <a:prstGeom prst="rect">
            <a:avLst/>
          </a:prstGeom>
          <a:noFill/>
        </p:spPr>
        <p:txBody>
          <a:bodyPr wrap="square" lIns="27432" rIns="27432">
            <a:spAutoFit/>
          </a:bodyPr>
          <a:lstStyle/>
          <a:p>
            <a:pPr algn="l">
              <a:defRPr sz="1200" b="1">
                <a:solidFill>
                  <a:srgbClr val="DC892A"/>
                </a:solidFill>
              </a:defRPr>
            </a:pPr>
            <a:r>
              <a:t>P3</a:t>
            </a:r>
          </a:p>
        </p:txBody>
      </p:sp>
      <p:sp>
        <p:nvSpPr>
          <p:cNvPr id="19" name="TextBox 18"/>
          <p:cNvSpPr txBox="1"/>
          <p:nvPr/>
        </p:nvSpPr>
        <p:spPr>
          <a:xfrm>
            <a:off x="1325880" y="3611880"/>
            <a:ext cx="2743200" cy="292608"/>
          </a:xfrm>
          <a:prstGeom prst="rect">
            <a:avLst/>
          </a:prstGeom>
          <a:noFill/>
        </p:spPr>
        <p:txBody>
          <a:bodyPr wrap="square" lIns="27432" rIns="27432">
            <a:spAutoFit/>
          </a:bodyPr>
          <a:lstStyle/>
          <a:p>
            <a:pPr algn="l">
              <a:defRPr sz="1120" b="1">
                <a:solidFill>
                  <a:srgbClr val="0B1F34"/>
                </a:solidFill>
              </a:defRPr>
            </a:pPr>
            <a:r>
              <a:t>Valeurs extrêmes potentielles</a:t>
            </a:r>
          </a:p>
        </p:txBody>
      </p:sp>
      <p:sp>
        <p:nvSpPr>
          <p:cNvPr id="20" name="TextBox 19"/>
          <p:cNvSpPr txBox="1"/>
          <p:nvPr/>
        </p:nvSpPr>
        <p:spPr>
          <a:xfrm>
            <a:off x="4160520" y="3611880"/>
            <a:ext cx="3794760" cy="548640"/>
          </a:xfrm>
          <a:prstGeom prst="rect">
            <a:avLst/>
          </a:prstGeom>
          <a:noFill/>
        </p:spPr>
        <p:txBody>
          <a:bodyPr wrap="square" lIns="27432" rIns="27432">
            <a:spAutoFit/>
          </a:bodyPr>
          <a:lstStyle/>
          <a:p>
            <a:pPr algn="l">
              <a:defRPr sz="980" b="0">
                <a:solidFill>
                  <a:srgbClr val="232C34"/>
                </a:solidFill>
              </a:defRPr>
            </a:pPr>
            <a:r>
              <a:t>trestbps=200 ; chol=564 ; oldpeak=6,2, éloignées des valeurs centrales.</a:t>
            </a:r>
          </a:p>
        </p:txBody>
      </p:sp>
      <p:sp>
        <p:nvSpPr>
          <p:cNvPr id="21" name="TextBox 20"/>
          <p:cNvSpPr txBox="1"/>
          <p:nvPr/>
        </p:nvSpPr>
        <p:spPr>
          <a:xfrm>
            <a:off x="8183879" y="3611880"/>
            <a:ext cx="3063240" cy="548640"/>
          </a:xfrm>
          <a:prstGeom prst="rect">
            <a:avLst/>
          </a:prstGeom>
          <a:noFill/>
        </p:spPr>
        <p:txBody>
          <a:bodyPr wrap="square" lIns="27432" rIns="27432">
            <a:spAutoFit/>
          </a:bodyPr>
          <a:lstStyle/>
          <a:p>
            <a:pPr algn="l">
              <a:defRPr sz="980" b="0">
                <a:solidFill>
                  <a:srgbClr val="232C34"/>
                </a:solidFill>
              </a:defRPr>
            </a:pPr>
            <a:r>
              <a:t>Risque d’influence sur certaines statistiques et analyses.</a:t>
            </a:r>
          </a:p>
        </p:txBody>
      </p:sp>
      <p:sp>
        <p:nvSpPr>
          <p:cNvPr id="22" name="Rounded Rectangle 21"/>
          <p:cNvSpPr/>
          <p:nvPr/>
        </p:nvSpPr>
        <p:spPr>
          <a:xfrm>
            <a:off x="594360" y="4727448"/>
            <a:ext cx="10972800" cy="987552"/>
          </a:xfrm>
          <a:prstGeom prst="roundRect">
            <a:avLst/>
          </a:prstGeom>
          <a:solidFill>
            <a:srgbClr val="F6F8FB"/>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892040"/>
            <a:ext cx="502920" cy="228600"/>
          </a:xfrm>
          <a:prstGeom prst="rect">
            <a:avLst/>
          </a:prstGeom>
          <a:noFill/>
        </p:spPr>
        <p:txBody>
          <a:bodyPr wrap="square" lIns="27432" rIns="27432">
            <a:spAutoFit/>
          </a:bodyPr>
          <a:lstStyle/>
          <a:p>
            <a:pPr algn="l">
              <a:defRPr sz="1200" b="1">
                <a:solidFill>
                  <a:srgbClr val="215F9A"/>
                </a:solidFill>
              </a:defRPr>
            </a:pPr>
            <a:r>
              <a:t>P4</a:t>
            </a:r>
          </a:p>
        </p:txBody>
      </p:sp>
      <p:sp>
        <p:nvSpPr>
          <p:cNvPr id="24" name="TextBox 23"/>
          <p:cNvSpPr txBox="1"/>
          <p:nvPr/>
        </p:nvSpPr>
        <p:spPr>
          <a:xfrm>
            <a:off x="1325880" y="4837176"/>
            <a:ext cx="2743200" cy="292608"/>
          </a:xfrm>
          <a:prstGeom prst="rect">
            <a:avLst/>
          </a:prstGeom>
          <a:noFill/>
        </p:spPr>
        <p:txBody>
          <a:bodyPr wrap="square" lIns="27432" rIns="27432">
            <a:spAutoFit/>
          </a:bodyPr>
          <a:lstStyle/>
          <a:p>
            <a:pPr algn="l">
              <a:defRPr sz="1120" b="1">
                <a:solidFill>
                  <a:srgbClr val="0B1F34"/>
                </a:solidFill>
              </a:defRPr>
            </a:pPr>
            <a:r>
              <a:t>Modalités déséquilibrées</a:t>
            </a:r>
          </a:p>
        </p:txBody>
      </p:sp>
      <p:sp>
        <p:nvSpPr>
          <p:cNvPr id="25" name="TextBox 24"/>
          <p:cNvSpPr txBox="1"/>
          <p:nvPr/>
        </p:nvSpPr>
        <p:spPr>
          <a:xfrm>
            <a:off x="4160520" y="4837176"/>
            <a:ext cx="3794760" cy="548640"/>
          </a:xfrm>
          <a:prstGeom prst="rect">
            <a:avLst/>
          </a:prstGeom>
          <a:noFill/>
        </p:spPr>
        <p:txBody>
          <a:bodyPr wrap="square" lIns="27432" rIns="27432">
            <a:spAutoFit/>
          </a:bodyPr>
          <a:lstStyle/>
          <a:p>
            <a:pPr algn="l">
              <a:defRPr sz="980" b="0">
                <a:solidFill>
                  <a:srgbClr val="232C34"/>
                </a:solidFill>
              </a:defRPr>
            </a:pPr>
            <a:r>
              <a:t>Ex. fbs : 85,15 % pour 0 contre 14,85 % pour 1.</a:t>
            </a:r>
          </a:p>
        </p:txBody>
      </p:sp>
      <p:sp>
        <p:nvSpPr>
          <p:cNvPr id="26" name="TextBox 25"/>
          <p:cNvSpPr txBox="1"/>
          <p:nvPr/>
        </p:nvSpPr>
        <p:spPr>
          <a:xfrm>
            <a:off x="8183879" y="4837176"/>
            <a:ext cx="3063240" cy="548640"/>
          </a:xfrm>
          <a:prstGeom prst="rect">
            <a:avLst/>
          </a:prstGeom>
          <a:noFill/>
        </p:spPr>
        <p:txBody>
          <a:bodyPr wrap="square" lIns="27432" rIns="27432">
            <a:spAutoFit/>
          </a:bodyPr>
          <a:lstStyle/>
          <a:p>
            <a:pPr algn="l">
              <a:defRPr sz="980" b="0">
                <a:solidFill>
                  <a:srgbClr val="232C34"/>
                </a:solidFill>
              </a:defRPr>
            </a:pPr>
            <a:r>
              <a:t>Certaines catégories rares peuvent être moins représentées.</a:t>
            </a:r>
          </a:p>
        </p:txBody>
      </p:sp>
      <p:sp>
        <p:nvSpPr>
          <p:cNvPr id="27" name="TextBox 26"/>
          <p:cNvSpPr txBox="1"/>
          <p:nvPr/>
        </p:nvSpPr>
        <p:spPr>
          <a:xfrm>
            <a:off x="685800" y="6016752"/>
            <a:ext cx="10698480" cy="228600"/>
          </a:xfrm>
          <a:prstGeom prst="rect">
            <a:avLst/>
          </a:prstGeom>
          <a:noFill/>
        </p:spPr>
        <p:txBody>
          <a:bodyPr wrap="square" lIns="27432" rIns="27432">
            <a:spAutoFit/>
          </a:bodyPr>
          <a:lstStyle/>
          <a:p>
            <a:pPr algn="ctr">
              <a:defRPr sz="950" b="1">
                <a:solidFill>
                  <a:srgbClr val="2D8953"/>
                </a:solidFill>
              </a:defRPr>
            </a:pPr>
            <a:r>
              <a:t>Non-problèmes : valeurs manquantes = 0 ; doublons complets = 0. Aucun traitement ne doit être inventé sur ces dimensions.</a:t>
            </a:r>
          </a:p>
        </p:txBody>
      </p:sp>
      <p:sp>
        <p:nvSpPr>
          <p:cNvPr id="28" name="TextBox 27"/>
          <p:cNvSpPr txBox="1"/>
          <p:nvPr/>
        </p:nvSpPr>
        <p:spPr>
          <a:xfrm>
            <a:off x="566928" y="6601968"/>
            <a:ext cx="7772400" cy="128016"/>
          </a:xfrm>
          <a:prstGeom prst="rect">
            <a:avLst/>
          </a:prstGeom>
          <a:noFill/>
        </p:spPr>
        <p:txBody>
          <a:bodyPr wrap="square" lIns="27432" rIns="27432">
            <a:spAutoFit/>
          </a:bodyPr>
          <a:lstStyle/>
          <a:p>
            <a:pPr algn="l">
              <a:defRPr sz="680" b="0">
                <a:solidFill>
                  <a:srgbClr val="64707B"/>
                </a:solidFill>
              </a:defRPr>
            </a:pPr>
            <a:r>
              <a:t>Joseph MUSENGA • Master 1 A.I • Dakar Institute of Technology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0B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10607040" cy="329184"/>
          </a:xfrm>
          <a:prstGeom prst="rect">
            <a:avLst/>
          </a:prstGeom>
          <a:noFill/>
        </p:spPr>
        <p:txBody>
          <a:bodyPr wrap="square" lIns="27432" rIns="27432">
            <a:spAutoFit/>
          </a:bodyPr>
          <a:lstStyle/>
          <a:p>
            <a:pPr algn="l">
              <a:defRPr sz="2100" b="1">
                <a:solidFill>
                  <a:srgbClr val="FFFFFF"/>
                </a:solidFill>
              </a:defRPr>
            </a:pPr>
            <a:r>
              <a:t>Q4 — Recommandations pour chaque problématique</a:t>
            </a:r>
          </a:p>
        </p:txBody>
      </p:sp>
      <p:sp>
        <p:nvSpPr>
          <p:cNvPr id="5" name="TextBox 4"/>
          <p:cNvSpPr txBox="1"/>
          <p:nvPr/>
        </p:nvSpPr>
        <p:spPr>
          <a:xfrm>
            <a:off x="11109960" y="164592"/>
            <a:ext cx="457200" cy="182880"/>
          </a:xfrm>
          <a:prstGeom prst="rect">
            <a:avLst/>
          </a:prstGeom>
          <a:noFill/>
        </p:spPr>
        <p:txBody>
          <a:bodyPr wrap="square" lIns="27432" rIns="27432">
            <a:spAutoFit/>
          </a:bodyPr>
          <a:lstStyle/>
          <a:p>
            <a:pPr algn="r">
              <a:defRPr sz="900" b="1">
                <a:solidFill>
                  <a:srgbClr val="A3C1DB"/>
                </a:solidFill>
              </a:defRPr>
            </a:pPr>
            <a:r>
              <a:t>10</a:t>
            </a:r>
          </a:p>
        </p:txBody>
      </p:sp>
      <p:sp>
        <p:nvSpPr>
          <p:cNvPr id="6" name="TextBox 5"/>
          <p:cNvSpPr txBox="1"/>
          <p:nvPr/>
        </p:nvSpPr>
        <p:spPr>
          <a:xfrm>
            <a:off x="530352" y="713232"/>
            <a:ext cx="10789920" cy="201168"/>
          </a:xfrm>
          <a:prstGeom prst="rect">
            <a:avLst/>
          </a:prstGeom>
          <a:noFill/>
        </p:spPr>
        <p:txBody>
          <a:bodyPr wrap="square" lIns="27432" rIns="27432">
            <a:spAutoFit/>
          </a:bodyPr>
          <a:lstStyle/>
          <a:p>
            <a:pPr algn="l">
              <a:defRPr sz="850" b="1">
                <a:solidFill>
                  <a:srgbClr val="215F9A"/>
                </a:solidFill>
              </a:defRPr>
            </a:pPr>
            <a:r>
              <a:t>Une recommandation doit découler d’une preuve</a:t>
            </a:r>
          </a:p>
        </p:txBody>
      </p:sp>
      <p:sp>
        <p:nvSpPr>
          <p:cNvPr id="7" name="Rectangle 6"/>
          <p:cNvSpPr/>
          <p:nvPr/>
        </p:nvSpPr>
        <p:spPr>
          <a:xfrm>
            <a:off x="365760" y="1051560"/>
            <a:ext cx="2331720" cy="731519"/>
          </a:xfrm>
          <a:prstGeom prst="rect">
            <a:avLst/>
          </a:prstGeom>
          <a:solidFill>
            <a:srgbClr val="0B1F3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02336" y="1133856"/>
            <a:ext cx="2258568" cy="612647"/>
          </a:xfrm>
          <a:prstGeom prst="rect">
            <a:avLst/>
          </a:prstGeom>
          <a:noFill/>
        </p:spPr>
        <p:txBody>
          <a:bodyPr wrap="square" lIns="27432" rIns="27432">
            <a:spAutoFit/>
          </a:bodyPr>
          <a:lstStyle/>
          <a:p>
            <a:pPr algn="ctr">
              <a:defRPr sz="880" b="1">
                <a:solidFill>
                  <a:srgbClr val="FFFFFF"/>
                </a:solidFill>
              </a:defRPr>
            </a:pPr>
            <a:r>
              <a:t>Problématique</a:t>
            </a:r>
          </a:p>
        </p:txBody>
      </p:sp>
      <p:sp>
        <p:nvSpPr>
          <p:cNvPr id="9" name="Rectangle 8"/>
          <p:cNvSpPr/>
          <p:nvPr/>
        </p:nvSpPr>
        <p:spPr>
          <a:xfrm>
            <a:off x="2697479" y="1051560"/>
            <a:ext cx="5486400" cy="731519"/>
          </a:xfrm>
          <a:prstGeom prst="rect">
            <a:avLst/>
          </a:prstGeom>
          <a:solidFill>
            <a:srgbClr val="0B1F3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34056" y="1133856"/>
            <a:ext cx="5413248" cy="612647"/>
          </a:xfrm>
          <a:prstGeom prst="rect">
            <a:avLst/>
          </a:prstGeom>
          <a:noFill/>
        </p:spPr>
        <p:txBody>
          <a:bodyPr wrap="square" lIns="27432" rIns="27432">
            <a:spAutoFit/>
          </a:bodyPr>
          <a:lstStyle/>
          <a:p>
            <a:pPr algn="l">
              <a:defRPr sz="880" b="1">
                <a:solidFill>
                  <a:srgbClr val="FFFFFF"/>
                </a:solidFill>
              </a:defRPr>
            </a:pPr>
            <a:r>
              <a:t>Recommandation</a:t>
            </a:r>
          </a:p>
        </p:txBody>
      </p:sp>
      <p:sp>
        <p:nvSpPr>
          <p:cNvPr id="11" name="Rectangle 10"/>
          <p:cNvSpPr/>
          <p:nvPr/>
        </p:nvSpPr>
        <p:spPr>
          <a:xfrm>
            <a:off x="8183880" y="1051560"/>
            <a:ext cx="3566160" cy="731519"/>
          </a:xfrm>
          <a:prstGeom prst="rect">
            <a:avLst/>
          </a:prstGeom>
          <a:solidFill>
            <a:srgbClr val="0B1F3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0456" y="1133856"/>
            <a:ext cx="3493008" cy="612647"/>
          </a:xfrm>
          <a:prstGeom prst="rect">
            <a:avLst/>
          </a:prstGeom>
          <a:noFill/>
        </p:spPr>
        <p:txBody>
          <a:bodyPr wrap="square" lIns="27432" rIns="27432">
            <a:spAutoFit/>
          </a:bodyPr>
          <a:lstStyle/>
          <a:p>
            <a:pPr algn="l">
              <a:defRPr sz="880" b="1">
                <a:solidFill>
                  <a:srgbClr val="FFFFFF"/>
                </a:solidFill>
              </a:defRPr>
            </a:pPr>
            <a:r>
              <a:t>Décision immédiate</a:t>
            </a:r>
          </a:p>
        </p:txBody>
      </p:sp>
      <p:sp>
        <p:nvSpPr>
          <p:cNvPr id="13" name="Rectangle 12"/>
          <p:cNvSpPr/>
          <p:nvPr/>
        </p:nvSpPr>
        <p:spPr>
          <a:xfrm>
            <a:off x="365760" y="1801367"/>
            <a:ext cx="2331720" cy="731519"/>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2336" y="1883663"/>
            <a:ext cx="2258568" cy="612647"/>
          </a:xfrm>
          <a:prstGeom prst="rect">
            <a:avLst/>
          </a:prstGeom>
          <a:noFill/>
        </p:spPr>
        <p:txBody>
          <a:bodyPr wrap="square" lIns="27432" rIns="27432">
            <a:spAutoFit/>
          </a:bodyPr>
          <a:lstStyle/>
          <a:p>
            <a:pPr algn="ctr">
              <a:defRPr sz="880" b="1">
                <a:solidFill>
                  <a:srgbClr val="232C34"/>
                </a:solidFill>
              </a:defRPr>
            </a:pPr>
            <a:r>
              <a:t>P1 — Nature statistique</a:t>
            </a:r>
          </a:p>
        </p:txBody>
      </p:sp>
      <p:sp>
        <p:nvSpPr>
          <p:cNvPr id="15" name="Rectangle 14"/>
          <p:cNvSpPr/>
          <p:nvPr/>
        </p:nvSpPr>
        <p:spPr>
          <a:xfrm>
            <a:off x="2697479" y="1801367"/>
            <a:ext cx="5486400" cy="731519"/>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34056" y="1883663"/>
            <a:ext cx="5413248" cy="612647"/>
          </a:xfrm>
          <a:prstGeom prst="rect">
            <a:avLst/>
          </a:prstGeom>
          <a:noFill/>
        </p:spPr>
        <p:txBody>
          <a:bodyPr wrap="square" lIns="27432" rIns="27432">
            <a:spAutoFit/>
          </a:bodyPr>
          <a:lstStyle/>
          <a:p>
            <a:pPr algn="l">
              <a:defRPr sz="880" b="0">
                <a:solidFill>
                  <a:srgbClr val="232C34"/>
                </a:solidFill>
              </a:defRPr>
            </a:pPr>
            <a:r>
              <a:t>Définir explicitement quantitatives vs catégorielles avant toute analyse/modélisation.</a:t>
            </a:r>
          </a:p>
        </p:txBody>
      </p:sp>
      <p:sp>
        <p:nvSpPr>
          <p:cNvPr id="17" name="Rectangle 16"/>
          <p:cNvSpPr/>
          <p:nvPr/>
        </p:nvSpPr>
        <p:spPr>
          <a:xfrm>
            <a:off x="8183880" y="1801367"/>
            <a:ext cx="3566160" cy="731519"/>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0456" y="1883663"/>
            <a:ext cx="3493008" cy="612647"/>
          </a:xfrm>
          <a:prstGeom prst="rect">
            <a:avLst/>
          </a:prstGeom>
          <a:noFill/>
        </p:spPr>
        <p:txBody>
          <a:bodyPr wrap="square" lIns="27432" rIns="27432">
            <a:spAutoFit/>
          </a:bodyPr>
          <a:lstStyle/>
          <a:p>
            <a:pPr algn="l">
              <a:defRPr sz="880" b="0">
                <a:solidFill>
                  <a:srgbClr val="232C34"/>
                </a:solidFill>
              </a:defRPr>
            </a:pPr>
            <a:r>
              <a:t>Conserver les valeurs ; adapter les méthodes.</a:t>
            </a:r>
          </a:p>
        </p:txBody>
      </p:sp>
      <p:sp>
        <p:nvSpPr>
          <p:cNvPr id="19" name="Rectangle 18"/>
          <p:cNvSpPr/>
          <p:nvPr/>
        </p:nvSpPr>
        <p:spPr>
          <a:xfrm>
            <a:off x="365760" y="2551176"/>
            <a:ext cx="2331720" cy="731519"/>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02336" y="2633472"/>
            <a:ext cx="2258568" cy="612647"/>
          </a:xfrm>
          <a:prstGeom prst="rect">
            <a:avLst/>
          </a:prstGeom>
          <a:noFill/>
        </p:spPr>
        <p:txBody>
          <a:bodyPr wrap="square" lIns="27432" rIns="27432">
            <a:spAutoFit/>
          </a:bodyPr>
          <a:lstStyle/>
          <a:p>
            <a:pPr algn="ctr">
              <a:defRPr sz="880" b="1">
                <a:solidFill>
                  <a:srgbClr val="232C34"/>
                </a:solidFill>
              </a:defRPr>
            </a:pPr>
            <a:r>
              <a:t>P2 — Codages</a:t>
            </a:r>
          </a:p>
        </p:txBody>
      </p:sp>
      <p:sp>
        <p:nvSpPr>
          <p:cNvPr id="21" name="Rectangle 20"/>
          <p:cNvSpPr/>
          <p:nvPr/>
        </p:nvSpPr>
        <p:spPr>
          <a:xfrm>
            <a:off x="2697479" y="2551176"/>
            <a:ext cx="5486400" cy="731519"/>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34056" y="2633472"/>
            <a:ext cx="5413248" cy="612647"/>
          </a:xfrm>
          <a:prstGeom prst="rect">
            <a:avLst/>
          </a:prstGeom>
          <a:noFill/>
        </p:spPr>
        <p:txBody>
          <a:bodyPr wrap="square" lIns="27432" rIns="27432">
            <a:spAutoFit/>
          </a:bodyPr>
          <a:lstStyle/>
          <a:p>
            <a:pPr algn="l">
              <a:defRPr sz="880" b="0">
                <a:solidFill>
                  <a:srgbClr val="232C34"/>
                </a:solidFill>
              </a:defRPr>
            </a:pPr>
            <a:r>
              <a:t>Retrouver/valider le dictionnaire exact des codes cp, slope et thal avant interprétation métier.</a:t>
            </a:r>
          </a:p>
        </p:txBody>
      </p:sp>
      <p:sp>
        <p:nvSpPr>
          <p:cNvPr id="23" name="Rectangle 22"/>
          <p:cNvSpPr/>
          <p:nvPr/>
        </p:nvSpPr>
        <p:spPr>
          <a:xfrm>
            <a:off x="8183880" y="2551176"/>
            <a:ext cx="3566160" cy="731519"/>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0456" y="2633472"/>
            <a:ext cx="3493008" cy="612647"/>
          </a:xfrm>
          <a:prstGeom prst="rect">
            <a:avLst/>
          </a:prstGeom>
          <a:noFill/>
        </p:spPr>
        <p:txBody>
          <a:bodyPr wrap="square" lIns="27432" rIns="27432">
            <a:spAutoFit/>
          </a:bodyPr>
          <a:lstStyle/>
          <a:p>
            <a:pPr algn="l">
              <a:defRPr sz="880" b="0">
                <a:solidFill>
                  <a:srgbClr val="232C34"/>
                </a:solidFill>
              </a:defRPr>
            </a:pPr>
            <a:r>
              <a:t>Ne pas renommer les modalités sans preuve.</a:t>
            </a:r>
          </a:p>
        </p:txBody>
      </p:sp>
      <p:sp>
        <p:nvSpPr>
          <p:cNvPr id="25" name="Rectangle 24"/>
          <p:cNvSpPr/>
          <p:nvPr/>
        </p:nvSpPr>
        <p:spPr>
          <a:xfrm>
            <a:off x="365760" y="3300984"/>
            <a:ext cx="2331720" cy="731519"/>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02336" y="3383279"/>
            <a:ext cx="2258568" cy="612647"/>
          </a:xfrm>
          <a:prstGeom prst="rect">
            <a:avLst/>
          </a:prstGeom>
          <a:noFill/>
        </p:spPr>
        <p:txBody>
          <a:bodyPr wrap="square" lIns="27432" rIns="27432">
            <a:spAutoFit/>
          </a:bodyPr>
          <a:lstStyle/>
          <a:p>
            <a:pPr algn="ctr">
              <a:defRPr sz="880" b="1">
                <a:solidFill>
                  <a:srgbClr val="232C34"/>
                </a:solidFill>
              </a:defRPr>
            </a:pPr>
            <a:r>
              <a:t>P3 — Valeurs extrêmes</a:t>
            </a:r>
          </a:p>
        </p:txBody>
      </p:sp>
      <p:sp>
        <p:nvSpPr>
          <p:cNvPr id="27" name="Rectangle 26"/>
          <p:cNvSpPr/>
          <p:nvPr/>
        </p:nvSpPr>
        <p:spPr>
          <a:xfrm>
            <a:off x="2697479" y="3300984"/>
            <a:ext cx="5486400" cy="731519"/>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34056" y="3383279"/>
            <a:ext cx="5413248" cy="612647"/>
          </a:xfrm>
          <a:prstGeom prst="rect">
            <a:avLst/>
          </a:prstGeom>
          <a:noFill/>
        </p:spPr>
        <p:txBody>
          <a:bodyPr wrap="square" lIns="27432" rIns="27432">
            <a:spAutoFit/>
          </a:bodyPr>
          <a:lstStyle/>
          <a:p>
            <a:pPr algn="l">
              <a:defRPr sz="880" b="0">
                <a:solidFill>
                  <a:srgbClr val="232C34"/>
                </a:solidFill>
              </a:defRPr>
            </a:pPr>
            <a:r>
              <a:t>Analyser distributions et boxplots ; vérifier plausibilité ; décider ensuite conservation, transformation ou traitement.</a:t>
            </a:r>
          </a:p>
        </p:txBody>
      </p:sp>
      <p:sp>
        <p:nvSpPr>
          <p:cNvPr id="29" name="Rectangle 28"/>
          <p:cNvSpPr/>
          <p:nvPr/>
        </p:nvSpPr>
        <p:spPr>
          <a:xfrm>
            <a:off x="8183880" y="3300984"/>
            <a:ext cx="3566160" cy="731519"/>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0456" y="3383279"/>
            <a:ext cx="3493008" cy="612647"/>
          </a:xfrm>
          <a:prstGeom prst="rect">
            <a:avLst/>
          </a:prstGeom>
          <a:noFill/>
        </p:spPr>
        <p:txBody>
          <a:bodyPr wrap="square" lIns="27432" rIns="27432">
            <a:spAutoFit/>
          </a:bodyPr>
          <a:lstStyle/>
          <a:p>
            <a:pPr algn="l">
              <a:defRPr sz="880" b="0">
                <a:solidFill>
                  <a:srgbClr val="232C34"/>
                </a:solidFill>
              </a:defRPr>
            </a:pPr>
            <a:r>
              <a:t>Ne supprimer aucune valeur maintenant.</a:t>
            </a:r>
          </a:p>
        </p:txBody>
      </p:sp>
      <p:sp>
        <p:nvSpPr>
          <p:cNvPr id="31" name="Rectangle 30"/>
          <p:cNvSpPr/>
          <p:nvPr/>
        </p:nvSpPr>
        <p:spPr>
          <a:xfrm>
            <a:off x="365760" y="4050791"/>
            <a:ext cx="2331720" cy="731519"/>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02336" y="4133087"/>
            <a:ext cx="2258568" cy="612647"/>
          </a:xfrm>
          <a:prstGeom prst="rect">
            <a:avLst/>
          </a:prstGeom>
          <a:noFill/>
        </p:spPr>
        <p:txBody>
          <a:bodyPr wrap="square" lIns="27432" rIns="27432">
            <a:spAutoFit/>
          </a:bodyPr>
          <a:lstStyle/>
          <a:p>
            <a:pPr algn="ctr">
              <a:defRPr sz="880" b="1">
                <a:solidFill>
                  <a:srgbClr val="232C34"/>
                </a:solidFill>
              </a:defRPr>
            </a:pPr>
            <a:r>
              <a:t>P4 — Déséquilibres</a:t>
            </a:r>
          </a:p>
        </p:txBody>
      </p:sp>
      <p:sp>
        <p:nvSpPr>
          <p:cNvPr id="33" name="Rectangle 32"/>
          <p:cNvSpPr/>
          <p:nvPr/>
        </p:nvSpPr>
        <p:spPr>
          <a:xfrm>
            <a:off x="2697479" y="4050791"/>
            <a:ext cx="5486400" cy="731519"/>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734056" y="4133087"/>
            <a:ext cx="5413248" cy="612647"/>
          </a:xfrm>
          <a:prstGeom prst="rect">
            <a:avLst/>
          </a:prstGeom>
          <a:noFill/>
        </p:spPr>
        <p:txBody>
          <a:bodyPr wrap="square" lIns="27432" rIns="27432">
            <a:spAutoFit/>
          </a:bodyPr>
          <a:lstStyle/>
          <a:p>
            <a:pPr algn="l">
              <a:defRPr sz="880" b="0">
                <a:solidFill>
                  <a:srgbClr val="232C34"/>
                </a:solidFill>
              </a:defRPr>
            </a:pPr>
            <a:r>
              <a:t>Documenter les fréquences et tenir compte des catégories rares dans analyses et futurs modèles.</a:t>
            </a:r>
          </a:p>
        </p:txBody>
      </p:sp>
      <p:sp>
        <p:nvSpPr>
          <p:cNvPr id="35" name="Rectangle 34"/>
          <p:cNvSpPr/>
          <p:nvPr/>
        </p:nvSpPr>
        <p:spPr>
          <a:xfrm>
            <a:off x="8183880" y="4050791"/>
            <a:ext cx="3566160" cy="731519"/>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20456" y="4133087"/>
            <a:ext cx="3493008" cy="612647"/>
          </a:xfrm>
          <a:prstGeom prst="rect">
            <a:avLst/>
          </a:prstGeom>
          <a:noFill/>
        </p:spPr>
        <p:txBody>
          <a:bodyPr wrap="square" lIns="27432" rIns="27432">
            <a:spAutoFit/>
          </a:bodyPr>
          <a:lstStyle/>
          <a:p>
            <a:pPr algn="l">
              <a:defRPr sz="880" b="0">
                <a:solidFill>
                  <a:srgbClr val="232C34"/>
                </a:solidFill>
              </a:defRPr>
            </a:pPr>
            <a:r>
              <a:t>Conserver toutes les modalités à ce stade.</a:t>
            </a:r>
          </a:p>
        </p:txBody>
      </p:sp>
      <p:sp>
        <p:nvSpPr>
          <p:cNvPr id="37" name="Rectangle 36"/>
          <p:cNvSpPr/>
          <p:nvPr/>
        </p:nvSpPr>
        <p:spPr>
          <a:xfrm>
            <a:off x="365760" y="4800600"/>
            <a:ext cx="2331720" cy="731519"/>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02336" y="4882896"/>
            <a:ext cx="2258568" cy="612647"/>
          </a:xfrm>
          <a:prstGeom prst="rect">
            <a:avLst/>
          </a:prstGeom>
          <a:noFill/>
        </p:spPr>
        <p:txBody>
          <a:bodyPr wrap="square" lIns="27432" rIns="27432">
            <a:spAutoFit/>
          </a:bodyPr>
          <a:lstStyle/>
          <a:p>
            <a:pPr algn="ctr">
              <a:defRPr sz="880" b="1">
                <a:solidFill>
                  <a:srgbClr val="232C34"/>
                </a:solidFill>
              </a:defRPr>
            </a:pPr>
            <a:r>
              <a:t>Absence de NaN/doublons</a:t>
            </a:r>
          </a:p>
        </p:txBody>
      </p:sp>
      <p:sp>
        <p:nvSpPr>
          <p:cNvPr id="39" name="Rectangle 38"/>
          <p:cNvSpPr/>
          <p:nvPr/>
        </p:nvSpPr>
        <p:spPr>
          <a:xfrm>
            <a:off x="2697479" y="4800600"/>
            <a:ext cx="5486400" cy="731519"/>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34056" y="4882896"/>
            <a:ext cx="5413248" cy="612647"/>
          </a:xfrm>
          <a:prstGeom prst="rect">
            <a:avLst/>
          </a:prstGeom>
          <a:noFill/>
        </p:spPr>
        <p:txBody>
          <a:bodyPr wrap="square" lIns="27432" rIns="27432">
            <a:spAutoFit/>
          </a:bodyPr>
          <a:lstStyle/>
          <a:p>
            <a:pPr algn="l">
              <a:defRPr sz="880" b="0">
                <a:solidFill>
                  <a:srgbClr val="232C34"/>
                </a:solidFill>
              </a:defRPr>
            </a:pPr>
            <a:r>
              <a:t>Ne pas imputer et ne pas dédupliquer inutilement.</a:t>
            </a:r>
          </a:p>
        </p:txBody>
      </p:sp>
      <p:sp>
        <p:nvSpPr>
          <p:cNvPr id="41" name="Rectangle 40"/>
          <p:cNvSpPr/>
          <p:nvPr/>
        </p:nvSpPr>
        <p:spPr>
          <a:xfrm>
            <a:off x="8183880" y="4800600"/>
            <a:ext cx="3566160" cy="731519"/>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220456" y="4882896"/>
            <a:ext cx="3493008" cy="612647"/>
          </a:xfrm>
          <a:prstGeom prst="rect">
            <a:avLst/>
          </a:prstGeom>
          <a:noFill/>
        </p:spPr>
        <p:txBody>
          <a:bodyPr wrap="square" lIns="27432" rIns="27432">
            <a:spAutoFit/>
          </a:bodyPr>
          <a:lstStyle/>
          <a:p>
            <a:pPr algn="l">
              <a:defRPr sz="880" b="0">
                <a:solidFill>
                  <a:srgbClr val="232C34"/>
                </a:solidFill>
              </a:defRPr>
            </a:pPr>
            <a:r>
              <a:t>Aucune action corrective.</a:t>
            </a:r>
          </a:p>
        </p:txBody>
      </p:sp>
      <p:sp>
        <p:nvSpPr>
          <p:cNvPr id="43" name="TextBox 42"/>
          <p:cNvSpPr txBox="1"/>
          <p:nvPr/>
        </p:nvSpPr>
        <p:spPr>
          <a:xfrm>
            <a:off x="685800" y="5806440"/>
            <a:ext cx="10698480" cy="320040"/>
          </a:xfrm>
          <a:prstGeom prst="rect">
            <a:avLst/>
          </a:prstGeom>
          <a:noFill/>
        </p:spPr>
        <p:txBody>
          <a:bodyPr wrap="square" lIns="27432" rIns="27432">
            <a:spAutoFit/>
          </a:bodyPr>
          <a:lstStyle/>
          <a:p>
            <a:pPr algn="ctr">
              <a:defRPr sz="1300" b="1">
                <a:solidFill>
                  <a:srgbClr val="215F9A"/>
                </a:solidFill>
              </a:defRPr>
            </a:pPr>
            <a:r>
              <a:t>Règle de décision : vérifier → comprendre → justifier → traiter. Jamais l’inverse.</a:t>
            </a:r>
          </a:p>
        </p:txBody>
      </p:sp>
      <p:sp>
        <p:nvSpPr>
          <p:cNvPr id="44" name="TextBox 43"/>
          <p:cNvSpPr txBox="1"/>
          <p:nvPr/>
        </p:nvSpPr>
        <p:spPr>
          <a:xfrm>
            <a:off x="566928" y="6601968"/>
            <a:ext cx="7772400" cy="128016"/>
          </a:xfrm>
          <a:prstGeom prst="rect">
            <a:avLst/>
          </a:prstGeom>
          <a:noFill/>
        </p:spPr>
        <p:txBody>
          <a:bodyPr wrap="square" lIns="27432" rIns="27432">
            <a:spAutoFit/>
          </a:bodyPr>
          <a:lstStyle/>
          <a:p>
            <a:pPr algn="l">
              <a:defRPr sz="680" b="0">
                <a:solidFill>
                  <a:srgbClr val="64707B"/>
                </a:solidFill>
              </a:defRPr>
            </a:pPr>
            <a:r>
              <a:t>Joseph MUSENGA • Master 1 A.I • Dakar Institute of Technology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0B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
            <a:ext cx="10607040" cy="329184"/>
          </a:xfrm>
          <a:prstGeom prst="rect">
            <a:avLst/>
          </a:prstGeom>
          <a:noFill/>
        </p:spPr>
        <p:txBody>
          <a:bodyPr wrap="square" lIns="27432" rIns="27432">
            <a:spAutoFit/>
          </a:bodyPr>
          <a:lstStyle/>
          <a:p>
            <a:pPr algn="l">
              <a:defRPr sz="2100" b="1">
                <a:solidFill>
                  <a:srgbClr val="FFFFFF"/>
                </a:solidFill>
              </a:defRPr>
            </a:pPr>
            <a:r>
              <a:rPr dirty="0"/>
              <a:t>Matrice de diagnostic : constat → </a:t>
            </a:r>
            <a:r>
              <a:rPr dirty="0" err="1"/>
              <a:t>risque</a:t>
            </a:r>
            <a:r>
              <a:rPr dirty="0"/>
              <a:t> → action</a:t>
            </a:r>
          </a:p>
        </p:txBody>
      </p:sp>
      <p:sp>
        <p:nvSpPr>
          <p:cNvPr id="5" name="TextBox 4"/>
          <p:cNvSpPr txBox="1"/>
          <p:nvPr/>
        </p:nvSpPr>
        <p:spPr>
          <a:xfrm>
            <a:off x="11109960" y="164592"/>
            <a:ext cx="457200" cy="182880"/>
          </a:xfrm>
          <a:prstGeom prst="rect">
            <a:avLst/>
          </a:prstGeom>
          <a:noFill/>
        </p:spPr>
        <p:txBody>
          <a:bodyPr wrap="square" lIns="27432" rIns="27432">
            <a:spAutoFit/>
          </a:bodyPr>
          <a:lstStyle/>
          <a:p>
            <a:pPr algn="r">
              <a:defRPr sz="900" b="1">
                <a:solidFill>
                  <a:srgbClr val="A3C1DB"/>
                </a:solidFill>
              </a:defRPr>
            </a:pPr>
            <a:r>
              <a:t>11</a:t>
            </a:r>
          </a:p>
        </p:txBody>
      </p:sp>
      <p:sp>
        <p:nvSpPr>
          <p:cNvPr id="6" name="Rectangle 5"/>
          <p:cNvSpPr/>
          <p:nvPr/>
        </p:nvSpPr>
        <p:spPr>
          <a:xfrm>
            <a:off x="640080" y="1097280"/>
            <a:ext cx="3749039" cy="603504"/>
          </a:xfrm>
          <a:prstGeom prst="rect">
            <a:avLst/>
          </a:prstGeom>
          <a:solidFill>
            <a:srgbClr val="0B1F3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6656" y="1179576"/>
            <a:ext cx="3675887" cy="484632"/>
          </a:xfrm>
          <a:prstGeom prst="rect">
            <a:avLst/>
          </a:prstGeom>
          <a:noFill/>
        </p:spPr>
        <p:txBody>
          <a:bodyPr wrap="square" lIns="27432" rIns="27432">
            <a:spAutoFit/>
          </a:bodyPr>
          <a:lstStyle/>
          <a:p>
            <a:pPr algn="ctr">
              <a:defRPr sz="940" b="1">
                <a:solidFill>
                  <a:srgbClr val="FFFFFF"/>
                </a:solidFill>
              </a:defRPr>
            </a:pPr>
            <a:r>
              <a:t>Constat</a:t>
            </a:r>
          </a:p>
        </p:txBody>
      </p:sp>
      <p:sp>
        <p:nvSpPr>
          <p:cNvPr id="8" name="Rectangle 7"/>
          <p:cNvSpPr/>
          <p:nvPr/>
        </p:nvSpPr>
        <p:spPr>
          <a:xfrm>
            <a:off x="4389120" y="1097280"/>
            <a:ext cx="1965960" cy="603504"/>
          </a:xfrm>
          <a:prstGeom prst="rect">
            <a:avLst/>
          </a:prstGeom>
          <a:solidFill>
            <a:srgbClr val="0B1F3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25696" y="1179576"/>
            <a:ext cx="1892807" cy="484632"/>
          </a:xfrm>
          <a:prstGeom prst="rect">
            <a:avLst/>
          </a:prstGeom>
          <a:noFill/>
        </p:spPr>
        <p:txBody>
          <a:bodyPr wrap="square" lIns="27432" rIns="27432">
            <a:spAutoFit/>
          </a:bodyPr>
          <a:lstStyle/>
          <a:p>
            <a:pPr algn="l">
              <a:defRPr sz="940" b="1">
                <a:solidFill>
                  <a:srgbClr val="FFFFFF"/>
                </a:solidFill>
              </a:defRPr>
            </a:pPr>
            <a:r>
              <a:t>Niveau</a:t>
            </a:r>
          </a:p>
        </p:txBody>
      </p:sp>
      <p:sp>
        <p:nvSpPr>
          <p:cNvPr id="10" name="Rectangle 9"/>
          <p:cNvSpPr/>
          <p:nvPr/>
        </p:nvSpPr>
        <p:spPr>
          <a:xfrm>
            <a:off x="6355080" y="1097280"/>
            <a:ext cx="5074920" cy="603504"/>
          </a:xfrm>
          <a:prstGeom prst="rect">
            <a:avLst/>
          </a:prstGeom>
          <a:solidFill>
            <a:srgbClr val="0B1F3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91656" y="1179576"/>
            <a:ext cx="5001768" cy="484632"/>
          </a:xfrm>
          <a:prstGeom prst="rect">
            <a:avLst/>
          </a:prstGeom>
          <a:noFill/>
        </p:spPr>
        <p:txBody>
          <a:bodyPr wrap="square" lIns="27432" rIns="27432">
            <a:spAutoFit/>
          </a:bodyPr>
          <a:lstStyle/>
          <a:p>
            <a:pPr algn="l">
              <a:defRPr sz="940" b="1">
                <a:solidFill>
                  <a:srgbClr val="FFFFFF"/>
                </a:solidFill>
              </a:defRPr>
            </a:pPr>
            <a:r>
              <a:t>Action recommandée</a:t>
            </a:r>
          </a:p>
        </p:txBody>
      </p:sp>
      <p:sp>
        <p:nvSpPr>
          <p:cNvPr id="12" name="Rectangle 11"/>
          <p:cNvSpPr/>
          <p:nvPr/>
        </p:nvSpPr>
        <p:spPr>
          <a:xfrm>
            <a:off x="640080" y="1719072"/>
            <a:ext cx="3749039" cy="603504"/>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6656" y="1801368"/>
            <a:ext cx="3675887" cy="484632"/>
          </a:xfrm>
          <a:prstGeom prst="rect">
            <a:avLst/>
          </a:prstGeom>
          <a:noFill/>
        </p:spPr>
        <p:txBody>
          <a:bodyPr wrap="square" lIns="27432" rIns="27432">
            <a:spAutoFit/>
          </a:bodyPr>
          <a:lstStyle/>
          <a:p>
            <a:pPr algn="ctr">
              <a:defRPr sz="940" b="1">
                <a:solidFill>
                  <a:srgbClr val="232C34"/>
                </a:solidFill>
              </a:defRPr>
            </a:pPr>
            <a:r>
              <a:t>0 valeur manquante</a:t>
            </a:r>
          </a:p>
        </p:txBody>
      </p:sp>
      <p:sp>
        <p:nvSpPr>
          <p:cNvPr id="14" name="Rectangle 13"/>
          <p:cNvSpPr/>
          <p:nvPr/>
        </p:nvSpPr>
        <p:spPr>
          <a:xfrm>
            <a:off x="4389120" y="1719072"/>
            <a:ext cx="1965960" cy="603504"/>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25696" y="1801368"/>
            <a:ext cx="1892807" cy="484632"/>
          </a:xfrm>
          <a:prstGeom prst="rect">
            <a:avLst/>
          </a:prstGeom>
          <a:noFill/>
        </p:spPr>
        <p:txBody>
          <a:bodyPr wrap="square" lIns="27432" rIns="27432">
            <a:spAutoFit/>
          </a:bodyPr>
          <a:lstStyle/>
          <a:p>
            <a:pPr algn="l">
              <a:defRPr sz="940" b="0">
                <a:solidFill>
                  <a:srgbClr val="232C34"/>
                </a:solidFill>
              </a:defRPr>
            </a:pPr>
            <a:r>
              <a:t>Positif</a:t>
            </a:r>
          </a:p>
        </p:txBody>
      </p:sp>
      <p:sp>
        <p:nvSpPr>
          <p:cNvPr id="16" name="Rectangle 15"/>
          <p:cNvSpPr/>
          <p:nvPr/>
        </p:nvSpPr>
        <p:spPr>
          <a:xfrm>
            <a:off x="6355080" y="1719072"/>
            <a:ext cx="5074920" cy="603504"/>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91656" y="1801368"/>
            <a:ext cx="5001768" cy="484632"/>
          </a:xfrm>
          <a:prstGeom prst="rect">
            <a:avLst/>
          </a:prstGeom>
          <a:noFill/>
        </p:spPr>
        <p:txBody>
          <a:bodyPr wrap="square" lIns="27432" rIns="27432">
            <a:spAutoFit/>
          </a:bodyPr>
          <a:lstStyle/>
          <a:p>
            <a:pPr algn="l">
              <a:defRPr sz="940" b="0">
                <a:solidFill>
                  <a:srgbClr val="232C34"/>
                </a:solidFill>
              </a:defRPr>
            </a:pPr>
            <a:r>
              <a:t>Aucune imputation</a:t>
            </a:r>
          </a:p>
        </p:txBody>
      </p:sp>
      <p:sp>
        <p:nvSpPr>
          <p:cNvPr id="18" name="Rectangle 17"/>
          <p:cNvSpPr/>
          <p:nvPr/>
        </p:nvSpPr>
        <p:spPr>
          <a:xfrm>
            <a:off x="640080" y="2340864"/>
            <a:ext cx="3749039" cy="603504"/>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6656" y="2423160"/>
            <a:ext cx="3675887" cy="484632"/>
          </a:xfrm>
          <a:prstGeom prst="rect">
            <a:avLst/>
          </a:prstGeom>
          <a:noFill/>
        </p:spPr>
        <p:txBody>
          <a:bodyPr wrap="square" lIns="27432" rIns="27432">
            <a:spAutoFit/>
          </a:bodyPr>
          <a:lstStyle/>
          <a:p>
            <a:pPr algn="ctr">
              <a:defRPr sz="940" b="1">
                <a:solidFill>
                  <a:srgbClr val="232C34"/>
                </a:solidFill>
              </a:defRPr>
            </a:pPr>
            <a:r>
              <a:t>0 doublon complet</a:t>
            </a:r>
          </a:p>
        </p:txBody>
      </p:sp>
      <p:sp>
        <p:nvSpPr>
          <p:cNvPr id="20" name="Rectangle 19"/>
          <p:cNvSpPr/>
          <p:nvPr/>
        </p:nvSpPr>
        <p:spPr>
          <a:xfrm>
            <a:off x="4389120" y="2340864"/>
            <a:ext cx="1965960" cy="603504"/>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25696" y="2423160"/>
            <a:ext cx="1892807" cy="484632"/>
          </a:xfrm>
          <a:prstGeom prst="rect">
            <a:avLst/>
          </a:prstGeom>
          <a:noFill/>
        </p:spPr>
        <p:txBody>
          <a:bodyPr wrap="square" lIns="27432" rIns="27432">
            <a:spAutoFit/>
          </a:bodyPr>
          <a:lstStyle/>
          <a:p>
            <a:pPr algn="l">
              <a:defRPr sz="940" b="0">
                <a:solidFill>
                  <a:srgbClr val="232C34"/>
                </a:solidFill>
              </a:defRPr>
            </a:pPr>
            <a:r>
              <a:t>Positif</a:t>
            </a:r>
          </a:p>
        </p:txBody>
      </p:sp>
      <p:sp>
        <p:nvSpPr>
          <p:cNvPr id="22" name="Rectangle 21"/>
          <p:cNvSpPr/>
          <p:nvPr/>
        </p:nvSpPr>
        <p:spPr>
          <a:xfrm>
            <a:off x="6355080" y="2340864"/>
            <a:ext cx="5074920" cy="603504"/>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1656" y="2423160"/>
            <a:ext cx="5001768" cy="484632"/>
          </a:xfrm>
          <a:prstGeom prst="rect">
            <a:avLst/>
          </a:prstGeom>
          <a:noFill/>
        </p:spPr>
        <p:txBody>
          <a:bodyPr wrap="square" lIns="27432" rIns="27432">
            <a:spAutoFit/>
          </a:bodyPr>
          <a:lstStyle/>
          <a:p>
            <a:pPr algn="l">
              <a:defRPr sz="940" b="0">
                <a:solidFill>
                  <a:srgbClr val="232C34"/>
                </a:solidFill>
              </a:defRPr>
            </a:pPr>
            <a:r>
              <a:t>Aucune suppression</a:t>
            </a:r>
          </a:p>
        </p:txBody>
      </p:sp>
      <p:sp>
        <p:nvSpPr>
          <p:cNvPr id="24" name="Rectangle 23"/>
          <p:cNvSpPr/>
          <p:nvPr/>
        </p:nvSpPr>
        <p:spPr>
          <a:xfrm>
            <a:off x="640080" y="2962656"/>
            <a:ext cx="3749039" cy="603504"/>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76656" y="3044952"/>
            <a:ext cx="3675887" cy="484632"/>
          </a:xfrm>
          <a:prstGeom prst="rect">
            <a:avLst/>
          </a:prstGeom>
          <a:noFill/>
        </p:spPr>
        <p:txBody>
          <a:bodyPr wrap="square" lIns="27432" rIns="27432">
            <a:spAutoFit/>
          </a:bodyPr>
          <a:lstStyle/>
          <a:p>
            <a:pPr algn="ctr">
              <a:defRPr sz="940" b="1">
                <a:solidFill>
                  <a:srgbClr val="232C34"/>
                </a:solidFill>
              </a:defRPr>
            </a:pPr>
            <a:r>
              <a:t>Catégories encodées numériquement</a:t>
            </a:r>
          </a:p>
        </p:txBody>
      </p:sp>
      <p:sp>
        <p:nvSpPr>
          <p:cNvPr id="26" name="Rectangle 25"/>
          <p:cNvSpPr/>
          <p:nvPr/>
        </p:nvSpPr>
        <p:spPr>
          <a:xfrm>
            <a:off x="4389120" y="2962656"/>
            <a:ext cx="1965960" cy="603504"/>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25696" y="3044952"/>
            <a:ext cx="1892807" cy="484632"/>
          </a:xfrm>
          <a:prstGeom prst="rect">
            <a:avLst/>
          </a:prstGeom>
          <a:noFill/>
        </p:spPr>
        <p:txBody>
          <a:bodyPr wrap="square" lIns="27432" rIns="27432">
            <a:spAutoFit/>
          </a:bodyPr>
          <a:lstStyle/>
          <a:p>
            <a:pPr algn="l">
              <a:defRPr sz="940" b="0">
                <a:solidFill>
                  <a:srgbClr val="232C34"/>
                </a:solidFill>
              </a:defRPr>
            </a:pPr>
            <a:r>
              <a:t>Vigilance</a:t>
            </a:r>
          </a:p>
        </p:txBody>
      </p:sp>
      <p:sp>
        <p:nvSpPr>
          <p:cNvPr id="28" name="Rectangle 27"/>
          <p:cNvSpPr/>
          <p:nvPr/>
        </p:nvSpPr>
        <p:spPr>
          <a:xfrm>
            <a:off x="6355080" y="2962656"/>
            <a:ext cx="5074920" cy="603504"/>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91656" y="3044952"/>
            <a:ext cx="5001768" cy="484632"/>
          </a:xfrm>
          <a:prstGeom prst="rect">
            <a:avLst/>
          </a:prstGeom>
          <a:noFill/>
        </p:spPr>
        <p:txBody>
          <a:bodyPr wrap="square" lIns="27432" rIns="27432">
            <a:spAutoFit/>
          </a:bodyPr>
          <a:lstStyle/>
          <a:p>
            <a:pPr algn="l">
              <a:defRPr sz="940" b="0">
                <a:solidFill>
                  <a:srgbClr val="232C34"/>
                </a:solidFill>
              </a:defRPr>
            </a:pPr>
            <a:r>
              <a:t>Classifier correctement les variables</a:t>
            </a:r>
          </a:p>
        </p:txBody>
      </p:sp>
      <p:sp>
        <p:nvSpPr>
          <p:cNvPr id="30" name="Rectangle 29"/>
          <p:cNvSpPr/>
          <p:nvPr/>
        </p:nvSpPr>
        <p:spPr>
          <a:xfrm>
            <a:off x="640080" y="3584448"/>
            <a:ext cx="3749039" cy="603504"/>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76656" y="3666744"/>
            <a:ext cx="3675887" cy="484632"/>
          </a:xfrm>
          <a:prstGeom prst="rect">
            <a:avLst/>
          </a:prstGeom>
          <a:noFill/>
        </p:spPr>
        <p:txBody>
          <a:bodyPr wrap="square" lIns="27432" rIns="27432">
            <a:spAutoFit/>
          </a:bodyPr>
          <a:lstStyle/>
          <a:p>
            <a:pPr algn="ctr">
              <a:defRPr sz="940" b="1">
                <a:solidFill>
                  <a:srgbClr val="232C34"/>
                </a:solidFill>
              </a:defRPr>
            </a:pPr>
            <a:r>
              <a:t>Codages cp/slope/thal à confirmer</a:t>
            </a:r>
          </a:p>
        </p:txBody>
      </p:sp>
      <p:sp>
        <p:nvSpPr>
          <p:cNvPr id="32" name="Rectangle 31"/>
          <p:cNvSpPr/>
          <p:nvPr/>
        </p:nvSpPr>
        <p:spPr>
          <a:xfrm>
            <a:off x="4389120" y="3584448"/>
            <a:ext cx="1965960" cy="603504"/>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25696" y="3666744"/>
            <a:ext cx="1892807" cy="484632"/>
          </a:xfrm>
          <a:prstGeom prst="rect">
            <a:avLst/>
          </a:prstGeom>
          <a:noFill/>
        </p:spPr>
        <p:txBody>
          <a:bodyPr wrap="square" lIns="27432" rIns="27432">
            <a:spAutoFit/>
          </a:bodyPr>
          <a:lstStyle/>
          <a:p>
            <a:pPr algn="l">
              <a:defRPr sz="940" b="0">
                <a:solidFill>
                  <a:srgbClr val="232C34"/>
                </a:solidFill>
              </a:defRPr>
            </a:pPr>
            <a:r>
              <a:t>Prioritaire</a:t>
            </a:r>
          </a:p>
        </p:txBody>
      </p:sp>
      <p:sp>
        <p:nvSpPr>
          <p:cNvPr id="34" name="Rectangle 33"/>
          <p:cNvSpPr/>
          <p:nvPr/>
        </p:nvSpPr>
        <p:spPr>
          <a:xfrm>
            <a:off x="6355080" y="3584448"/>
            <a:ext cx="5074920" cy="603504"/>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91656" y="3666744"/>
            <a:ext cx="5001768" cy="484632"/>
          </a:xfrm>
          <a:prstGeom prst="rect">
            <a:avLst/>
          </a:prstGeom>
          <a:noFill/>
        </p:spPr>
        <p:txBody>
          <a:bodyPr wrap="square" lIns="27432" rIns="27432">
            <a:spAutoFit/>
          </a:bodyPr>
          <a:lstStyle/>
          <a:p>
            <a:pPr algn="l">
              <a:defRPr sz="940" b="0">
                <a:solidFill>
                  <a:srgbClr val="232C34"/>
                </a:solidFill>
              </a:defRPr>
            </a:pPr>
            <a:r>
              <a:t>Valider le dictionnaire de données</a:t>
            </a:r>
          </a:p>
        </p:txBody>
      </p:sp>
      <p:sp>
        <p:nvSpPr>
          <p:cNvPr id="36" name="Rectangle 35"/>
          <p:cNvSpPr/>
          <p:nvPr/>
        </p:nvSpPr>
        <p:spPr>
          <a:xfrm>
            <a:off x="640080" y="4206240"/>
            <a:ext cx="3749039" cy="603504"/>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76656" y="4288536"/>
            <a:ext cx="3675887" cy="484632"/>
          </a:xfrm>
          <a:prstGeom prst="rect">
            <a:avLst/>
          </a:prstGeom>
          <a:noFill/>
        </p:spPr>
        <p:txBody>
          <a:bodyPr wrap="square" lIns="27432" rIns="27432">
            <a:spAutoFit/>
          </a:bodyPr>
          <a:lstStyle/>
          <a:p>
            <a:pPr algn="ctr">
              <a:defRPr sz="940" b="1">
                <a:solidFill>
                  <a:srgbClr val="232C34"/>
                </a:solidFill>
              </a:defRPr>
            </a:pPr>
            <a:r>
              <a:t>trestbps/chol/oldpeak : extrêmes potentiels</a:t>
            </a:r>
          </a:p>
        </p:txBody>
      </p:sp>
      <p:sp>
        <p:nvSpPr>
          <p:cNvPr id="38" name="Rectangle 37"/>
          <p:cNvSpPr/>
          <p:nvPr/>
        </p:nvSpPr>
        <p:spPr>
          <a:xfrm>
            <a:off x="4389120" y="4206240"/>
            <a:ext cx="1965960" cy="603504"/>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25696" y="4288536"/>
            <a:ext cx="1892807" cy="484632"/>
          </a:xfrm>
          <a:prstGeom prst="rect">
            <a:avLst/>
          </a:prstGeom>
          <a:noFill/>
        </p:spPr>
        <p:txBody>
          <a:bodyPr wrap="square" lIns="27432" rIns="27432">
            <a:spAutoFit/>
          </a:bodyPr>
          <a:lstStyle/>
          <a:p>
            <a:pPr algn="l">
              <a:defRPr sz="940" b="0">
                <a:solidFill>
                  <a:srgbClr val="232C34"/>
                </a:solidFill>
              </a:defRPr>
            </a:pPr>
            <a:r>
              <a:t>À investiguer</a:t>
            </a:r>
          </a:p>
        </p:txBody>
      </p:sp>
      <p:sp>
        <p:nvSpPr>
          <p:cNvPr id="40" name="Rectangle 39"/>
          <p:cNvSpPr/>
          <p:nvPr/>
        </p:nvSpPr>
        <p:spPr>
          <a:xfrm>
            <a:off x="6355080" y="4206240"/>
            <a:ext cx="5074920" cy="603504"/>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91656" y="4288536"/>
            <a:ext cx="5001768" cy="484632"/>
          </a:xfrm>
          <a:prstGeom prst="rect">
            <a:avLst/>
          </a:prstGeom>
          <a:noFill/>
        </p:spPr>
        <p:txBody>
          <a:bodyPr wrap="square" lIns="27432" rIns="27432">
            <a:spAutoFit/>
          </a:bodyPr>
          <a:lstStyle/>
          <a:p>
            <a:pPr algn="l">
              <a:defRPr sz="940" b="0">
                <a:solidFill>
                  <a:srgbClr val="232C34"/>
                </a:solidFill>
              </a:defRPr>
            </a:pPr>
            <a:r>
              <a:t>Visualiser et tester la plausibilité</a:t>
            </a:r>
          </a:p>
        </p:txBody>
      </p:sp>
      <p:sp>
        <p:nvSpPr>
          <p:cNvPr id="42" name="Rectangle 41"/>
          <p:cNvSpPr/>
          <p:nvPr/>
        </p:nvSpPr>
        <p:spPr>
          <a:xfrm>
            <a:off x="640080" y="4828032"/>
            <a:ext cx="3749039" cy="603504"/>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76656" y="4910328"/>
            <a:ext cx="3675887" cy="484632"/>
          </a:xfrm>
          <a:prstGeom prst="rect">
            <a:avLst/>
          </a:prstGeom>
          <a:noFill/>
        </p:spPr>
        <p:txBody>
          <a:bodyPr wrap="square" lIns="27432" rIns="27432">
            <a:spAutoFit/>
          </a:bodyPr>
          <a:lstStyle/>
          <a:p>
            <a:pPr algn="ctr">
              <a:defRPr sz="940" b="1">
                <a:solidFill>
                  <a:srgbClr val="232C34"/>
                </a:solidFill>
              </a:defRPr>
            </a:pPr>
            <a:r>
              <a:t>fbs très concentrée sur 0</a:t>
            </a:r>
          </a:p>
        </p:txBody>
      </p:sp>
      <p:sp>
        <p:nvSpPr>
          <p:cNvPr id="44" name="Rectangle 43"/>
          <p:cNvSpPr/>
          <p:nvPr/>
        </p:nvSpPr>
        <p:spPr>
          <a:xfrm>
            <a:off x="4389120" y="4828032"/>
            <a:ext cx="1965960" cy="603504"/>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425696" y="4910328"/>
            <a:ext cx="1892807" cy="484632"/>
          </a:xfrm>
          <a:prstGeom prst="rect">
            <a:avLst/>
          </a:prstGeom>
          <a:noFill/>
        </p:spPr>
        <p:txBody>
          <a:bodyPr wrap="square" lIns="27432" rIns="27432">
            <a:spAutoFit/>
          </a:bodyPr>
          <a:lstStyle/>
          <a:p>
            <a:pPr algn="l">
              <a:defRPr sz="940" b="0">
                <a:solidFill>
                  <a:srgbClr val="232C34"/>
                </a:solidFill>
              </a:defRPr>
            </a:pPr>
            <a:r>
              <a:t>À surveiller</a:t>
            </a:r>
          </a:p>
        </p:txBody>
      </p:sp>
      <p:sp>
        <p:nvSpPr>
          <p:cNvPr id="46" name="Rectangle 45"/>
          <p:cNvSpPr/>
          <p:nvPr/>
        </p:nvSpPr>
        <p:spPr>
          <a:xfrm>
            <a:off x="6355080" y="4828032"/>
            <a:ext cx="5074920" cy="603504"/>
          </a:xfrm>
          <a:prstGeom prst="rect">
            <a:avLst/>
          </a:prstGeom>
          <a:solidFill>
            <a:srgbClr val="EBF1F7"/>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91656" y="4910328"/>
            <a:ext cx="5001768" cy="484632"/>
          </a:xfrm>
          <a:prstGeom prst="rect">
            <a:avLst/>
          </a:prstGeom>
          <a:noFill/>
        </p:spPr>
        <p:txBody>
          <a:bodyPr wrap="square" lIns="27432" rIns="27432">
            <a:spAutoFit/>
          </a:bodyPr>
          <a:lstStyle/>
          <a:p>
            <a:pPr algn="l">
              <a:defRPr sz="940" b="0">
                <a:solidFill>
                  <a:srgbClr val="232C34"/>
                </a:solidFill>
              </a:defRPr>
            </a:pPr>
            <a:r>
              <a:t>Conserver ; considérer le déséquilibre ultérieurement</a:t>
            </a:r>
          </a:p>
        </p:txBody>
      </p:sp>
      <p:sp>
        <p:nvSpPr>
          <p:cNvPr id="48" name="Rectangle 47"/>
          <p:cNvSpPr/>
          <p:nvPr/>
        </p:nvSpPr>
        <p:spPr>
          <a:xfrm>
            <a:off x="640080" y="5449824"/>
            <a:ext cx="3749039" cy="603504"/>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76656" y="5532120"/>
            <a:ext cx="3675887" cy="484632"/>
          </a:xfrm>
          <a:prstGeom prst="rect">
            <a:avLst/>
          </a:prstGeom>
          <a:noFill/>
        </p:spPr>
        <p:txBody>
          <a:bodyPr wrap="square" lIns="27432" rIns="27432">
            <a:spAutoFit/>
          </a:bodyPr>
          <a:lstStyle/>
          <a:p>
            <a:pPr algn="ctr">
              <a:defRPr sz="940" b="1">
                <a:solidFill>
                  <a:srgbClr val="232C34"/>
                </a:solidFill>
              </a:defRPr>
            </a:pPr>
            <a:r>
              <a:t>target 54,13 % / 45,87 %</a:t>
            </a:r>
          </a:p>
        </p:txBody>
      </p:sp>
      <p:sp>
        <p:nvSpPr>
          <p:cNvPr id="50" name="Rectangle 49"/>
          <p:cNvSpPr/>
          <p:nvPr/>
        </p:nvSpPr>
        <p:spPr>
          <a:xfrm>
            <a:off x="4389120" y="5449824"/>
            <a:ext cx="1965960" cy="603504"/>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25696" y="5532120"/>
            <a:ext cx="1892807" cy="484632"/>
          </a:xfrm>
          <a:prstGeom prst="rect">
            <a:avLst/>
          </a:prstGeom>
          <a:noFill/>
        </p:spPr>
        <p:txBody>
          <a:bodyPr wrap="square" lIns="27432" rIns="27432">
            <a:spAutoFit/>
          </a:bodyPr>
          <a:lstStyle/>
          <a:p>
            <a:pPr algn="l">
              <a:defRPr sz="940" b="0">
                <a:solidFill>
                  <a:srgbClr val="232C34"/>
                </a:solidFill>
              </a:defRPr>
            </a:pPr>
            <a:r>
              <a:t>Favorable</a:t>
            </a:r>
          </a:p>
        </p:txBody>
      </p:sp>
      <p:sp>
        <p:nvSpPr>
          <p:cNvPr id="52" name="Rectangle 51"/>
          <p:cNvSpPr/>
          <p:nvPr/>
        </p:nvSpPr>
        <p:spPr>
          <a:xfrm>
            <a:off x="6355080" y="5449824"/>
            <a:ext cx="5074920" cy="603504"/>
          </a:xfrm>
          <a:prstGeom prst="rect">
            <a:avLst/>
          </a:prstGeom>
          <a:solidFill>
            <a:srgbClr val="FFFFFF"/>
          </a:solidFill>
          <a:ln>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391656" y="5532120"/>
            <a:ext cx="5001768" cy="484632"/>
          </a:xfrm>
          <a:prstGeom prst="rect">
            <a:avLst/>
          </a:prstGeom>
          <a:noFill/>
        </p:spPr>
        <p:txBody>
          <a:bodyPr wrap="square" lIns="27432" rIns="27432">
            <a:spAutoFit/>
          </a:bodyPr>
          <a:lstStyle/>
          <a:p>
            <a:pPr algn="l">
              <a:defRPr sz="940" b="0">
                <a:solidFill>
                  <a:srgbClr val="232C34"/>
                </a:solidFill>
              </a:defRPr>
            </a:pPr>
            <a:r>
              <a:t>Pas de déséquilibre majeur identifié</a:t>
            </a:r>
          </a:p>
        </p:txBody>
      </p:sp>
      <p:sp>
        <p:nvSpPr>
          <p:cNvPr id="54" name="TextBox 53"/>
          <p:cNvSpPr txBox="1"/>
          <p:nvPr/>
        </p:nvSpPr>
        <p:spPr>
          <a:xfrm>
            <a:off x="731520" y="5715000"/>
            <a:ext cx="10607040" cy="384048"/>
          </a:xfrm>
          <a:prstGeom prst="rect">
            <a:avLst/>
          </a:prstGeom>
          <a:noFill/>
        </p:spPr>
        <p:txBody>
          <a:bodyPr wrap="square" lIns="27432" rIns="27432">
            <a:spAutoFit/>
          </a:bodyPr>
          <a:lstStyle/>
          <a:p>
            <a:pPr algn="ctr">
              <a:defRPr sz="1350" b="1">
                <a:solidFill>
                  <a:srgbClr val="0B1F34"/>
                </a:solidFill>
              </a:defRPr>
            </a:pPr>
            <a:r>
              <a:t>Conclusion opérationnelle : aucune correction automatique n’est justifiée à l’issue de la seule inspection.</a:t>
            </a:r>
          </a:p>
        </p:txBody>
      </p:sp>
      <p:sp>
        <p:nvSpPr>
          <p:cNvPr id="55" name="TextBox 54"/>
          <p:cNvSpPr txBox="1"/>
          <p:nvPr/>
        </p:nvSpPr>
        <p:spPr>
          <a:xfrm>
            <a:off x="566928" y="6601968"/>
            <a:ext cx="7772400" cy="128016"/>
          </a:xfrm>
          <a:prstGeom prst="rect">
            <a:avLst/>
          </a:prstGeom>
          <a:noFill/>
        </p:spPr>
        <p:txBody>
          <a:bodyPr wrap="square" lIns="27432" rIns="27432">
            <a:spAutoFit/>
          </a:bodyPr>
          <a:lstStyle/>
          <a:p>
            <a:pPr algn="l">
              <a:defRPr sz="680" b="0">
                <a:solidFill>
                  <a:srgbClr val="64707B"/>
                </a:solidFill>
              </a:defRPr>
            </a:pPr>
            <a:r>
              <a:t>Joseph MUSENGA • Master 1 A.I • Dakar Institute of Technology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822960"/>
            <a:ext cx="9875520" cy="292608"/>
          </a:xfrm>
          <a:prstGeom prst="rect">
            <a:avLst/>
          </a:prstGeom>
          <a:noFill/>
        </p:spPr>
        <p:txBody>
          <a:bodyPr wrap="square" lIns="27432" rIns="27432">
            <a:spAutoFit/>
          </a:bodyPr>
          <a:lstStyle/>
          <a:p>
            <a:pPr algn="l">
              <a:defRPr sz="1300" b="1">
                <a:solidFill>
                  <a:srgbClr val="96C6E7"/>
                </a:solidFill>
              </a:defRPr>
            </a:pPr>
            <a:r>
              <a:t>CONCLUSION DU RAPPORT D’INSPECTION</a:t>
            </a:r>
          </a:p>
        </p:txBody>
      </p:sp>
      <p:sp>
        <p:nvSpPr>
          <p:cNvPr id="4" name="TextBox 3"/>
          <p:cNvSpPr txBox="1"/>
          <p:nvPr/>
        </p:nvSpPr>
        <p:spPr>
          <a:xfrm>
            <a:off x="731520" y="1389888"/>
            <a:ext cx="9875520" cy="822960"/>
          </a:xfrm>
          <a:prstGeom prst="rect">
            <a:avLst/>
          </a:prstGeom>
          <a:noFill/>
        </p:spPr>
        <p:txBody>
          <a:bodyPr wrap="square" lIns="27432" rIns="27432">
            <a:spAutoFit/>
          </a:bodyPr>
          <a:lstStyle/>
          <a:p>
            <a:pPr algn="l">
              <a:defRPr sz="3000" b="1">
                <a:solidFill>
                  <a:srgbClr val="FFFFFF"/>
                </a:solidFill>
              </a:defRPr>
            </a:pPr>
            <a:r>
              <a:t>Une base structurellement saine,</a:t>
            </a:r>
            <a:br/>
            <a:r>
              <a:t>mais qui doit encore être qualifiée.</a:t>
            </a:r>
          </a:p>
        </p:txBody>
      </p:sp>
      <p:sp>
        <p:nvSpPr>
          <p:cNvPr id="5" name="TextBox 4"/>
          <p:cNvSpPr txBox="1"/>
          <p:nvPr/>
        </p:nvSpPr>
        <p:spPr>
          <a:xfrm>
            <a:off x="731520" y="2971800"/>
            <a:ext cx="10058400" cy="640080"/>
          </a:xfrm>
          <a:prstGeom prst="rect">
            <a:avLst/>
          </a:prstGeom>
          <a:noFill/>
        </p:spPr>
        <p:txBody>
          <a:bodyPr wrap="square" lIns="27432" rIns="27432">
            <a:spAutoFit/>
          </a:bodyPr>
          <a:lstStyle/>
          <a:p>
            <a:pPr algn="l">
              <a:defRPr sz="1800" b="1">
                <a:solidFill>
                  <a:srgbClr val="DDE9F3"/>
                </a:solidFill>
              </a:defRPr>
            </a:pPr>
            <a:r>
              <a:t>303 observations • 14 variables • 100 % complètes • 0 doublon complet</a:t>
            </a:r>
          </a:p>
        </p:txBody>
      </p:sp>
      <p:sp>
        <p:nvSpPr>
          <p:cNvPr id="6" name="TextBox 5"/>
          <p:cNvSpPr txBox="1"/>
          <p:nvPr/>
        </p:nvSpPr>
        <p:spPr>
          <a:xfrm>
            <a:off x="731520" y="3886200"/>
            <a:ext cx="9966960" cy="1051560"/>
          </a:xfrm>
          <a:prstGeom prst="rect">
            <a:avLst/>
          </a:prstGeom>
          <a:noFill/>
        </p:spPr>
        <p:txBody>
          <a:bodyPr wrap="square" lIns="27432" rIns="27432">
            <a:spAutoFit/>
          </a:bodyPr>
          <a:lstStyle/>
          <a:p>
            <a:pPr algn="l">
              <a:defRPr sz="1650" b="0">
                <a:solidFill>
                  <a:srgbClr val="FFFFFF"/>
                </a:solidFill>
              </a:defRPr>
            </a:pPr>
            <a:r>
              <a:t>Les principaux enjeux ne concernent pas les données manquantes ou les doublons. Ils portent sur la bonne lecture des variables encodées, la documentation de certains codes, l’examen des valeurs extrêmes potentielles et la prise en compte des distributions déséquilibrées.</a:t>
            </a:r>
          </a:p>
        </p:txBody>
      </p:sp>
      <p:sp>
        <p:nvSpPr>
          <p:cNvPr id="7" name="TextBox 6"/>
          <p:cNvSpPr txBox="1"/>
          <p:nvPr/>
        </p:nvSpPr>
        <p:spPr>
          <a:xfrm>
            <a:off x="731520" y="5257800"/>
            <a:ext cx="9875520" cy="438912"/>
          </a:xfrm>
          <a:prstGeom prst="rect">
            <a:avLst/>
          </a:prstGeom>
          <a:noFill/>
        </p:spPr>
        <p:txBody>
          <a:bodyPr wrap="square" lIns="27432" rIns="27432">
            <a:spAutoFit/>
          </a:bodyPr>
          <a:lstStyle/>
          <a:p>
            <a:pPr algn="l">
              <a:defRPr sz="1250" b="1">
                <a:solidFill>
                  <a:srgbClr val="96C6E7"/>
                </a:solidFill>
              </a:defRPr>
            </a:pPr>
            <a:r>
              <a:t>Étape suivante du TP DIT : nettoyage/correction uniquement lorsque l’inspection fournit une justification.</a:t>
            </a:r>
          </a:p>
        </p:txBody>
      </p:sp>
      <p:sp>
        <p:nvSpPr>
          <p:cNvPr id="8" name="TextBox 7"/>
          <p:cNvSpPr txBox="1"/>
          <p:nvPr/>
        </p:nvSpPr>
        <p:spPr>
          <a:xfrm>
            <a:off x="731520" y="5897880"/>
            <a:ext cx="5943600" cy="228600"/>
          </a:xfrm>
          <a:prstGeom prst="rect">
            <a:avLst/>
          </a:prstGeom>
          <a:noFill/>
        </p:spPr>
        <p:txBody>
          <a:bodyPr wrap="square" lIns="27432" rIns="27432">
            <a:spAutoFit/>
          </a:bodyPr>
          <a:lstStyle/>
          <a:p>
            <a:pPr algn="l">
              <a:defRPr sz="1000" b="1">
                <a:solidFill>
                  <a:srgbClr val="FFFFFF"/>
                </a:solidFill>
              </a:defRPr>
            </a:pPr>
            <a:r>
              <a:t>Joseph MUSENGA • Master 1 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1577</Words>
  <Application>Microsoft Office PowerPoint</Application>
  <PresentationFormat>Widescreen</PresentationFormat>
  <Paragraphs>273</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Joseph Musenga</dc:creator>
  <cp:keywords/>
  <dc:description>generated using python-pptx</dc:description>
  <cp:lastModifiedBy>Joseph Musenga</cp:lastModifiedBy>
  <cp:revision>2</cp:revision>
  <dcterms:created xsi:type="dcterms:W3CDTF">2013-01-27T09:14:16Z</dcterms:created>
  <dcterms:modified xsi:type="dcterms:W3CDTF">2026-09-15T20:52:20Z</dcterms:modified>
  <cp:category/>
</cp:coreProperties>
</file>